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-23" r="-23" t="0" b="0"/>
          <a:stretch/>
        </p:blipFill>
        <p:spPr>
          <a:xfrm>
            <a:off x="381305" y="448056"/>
            <a:ext cx="1524305" cy="121889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13" r="-13" t="0" b="0"/>
          <a:stretch/>
        </p:blipFill>
        <p:spPr>
          <a:xfrm>
            <a:off x="10439705" y="4009644"/>
            <a:ext cx="1371600" cy="1218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543300" y="2505456"/>
            <a:ext cx="1619402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781044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8" name="Shape 4"/>
          <p:cNvSpPr/>
          <p:nvPr/>
        </p:nvSpPr>
        <p:spPr>
          <a:xfrm>
            <a:off x="3926434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9" name="Shape 5"/>
          <p:cNvSpPr/>
          <p:nvPr/>
        </p:nvSpPr>
        <p:spPr>
          <a:xfrm>
            <a:off x="4071823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10" name="Shape 6"/>
          <p:cNvSpPr/>
          <p:nvPr/>
        </p:nvSpPr>
        <p:spPr>
          <a:xfrm>
            <a:off x="4217213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1" name="Shape 7"/>
          <p:cNvSpPr/>
          <p:nvPr/>
        </p:nvSpPr>
        <p:spPr>
          <a:xfrm>
            <a:off x="4362602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2" name="Shape 8"/>
          <p:cNvSpPr/>
          <p:nvPr/>
        </p:nvSpPr>
        <p:spPr>
          <a:xfrm>
            <a:off x="4507992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3" name="Shape 9"/>
          <p:cNvSpPr/>
          <p:nvPr/>
        </p:nvSpPr>
        <p:spPr>
          <a:xfrm>
            <a:off x="4653382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797857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5" name="Shape 11"/>
          <p:cNvSpPr/>
          <p:nvPr/>
        </p:nvSpPr>
        <p:spPr>
          <a:xfrm>
            <a:off x="3781044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6" name="Shape 12"/>
          <p:cNvSpPr/>
          <p:nvPr/>
        </p:nvSpPr>
        <p:spPr>
          <a:xfrm>
            <a:off x="3926434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7" name="Shape 13"/>
          <p:cNvSpPr/>
          <p:nvPr/>
        </p:nvSpPr>
        <p:spPr>
          <a:xfrm>
            <a:off x="4071823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8" name="Shape 14"/>
          <p:cNvSpPr/>
          <p:nvPr/>
        </p:nvSpPr>
        <p:spPr>
          <a:xfrm>
            <a:off x="4217213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19" name="Shape 15"/>
          <p:cNvSpPr/>
          <p:nvPr/>
        </p:nvSpPr>
        <p:spPr>
          <a:xfrm>
            <a:off x="4362602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20" name="Shape 16"/>
          <p:cNvSpPr/>
          <p:nvPr/>
        </p:nvSpPr>
        <p:spPr>
          <a:xfrm>
            <a:off x="4507992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1" name="Shape 17"/>
          <p:cNvSpPr/>
          <p:nvPr/>
        </p:nvSpPr>
        <p:spPr>
          <a:xfrm>
            <a:off x="4653382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2" name="Shape 18"/>
          <p:cNvSpPr/>
          <p:nvPr/>
        </p:nvSpPr>
        <p:spPr>
          <a:xfrm>
            <a:off x="4797857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3" name="Shape 19"/>
          <p:cNvSpPr/>
          <p:nvPr/>
        </p:nvSpPr>
        <p:spPr>
          <a:xfrm>
            <a:off x="3781044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4" name="Shape 20"/>
          <p:cNvSpPr/>
          <p:nvPr/>
        </p:nvSpPr>
        <p:spPr>
          <a:xfrm>
            <a:off x="3926434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25" name="Shape 21"/>
          <p:cNvSpPr/>
          <p:nvPr/>
        </p:nvSpPr>
        <p:spPr>
          <a:xfrm>
            <a:off x="4071823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6" name="Shape 22"/>
          <p:cNvSpPr/>
          <p:nvPr/>
        </p:nvSpPr>
        <p:spPr>
          <a:xfrm>
            <a:off x="4217213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7" name="Shape 23"/>
          <p:cNvSpPr/>
          <p:nvPr/>
        </p:nvSpPr>
        <p:spPr>
          <a:xfrm>
            <a:off x="4362602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8" name="Shape 24"/>
          <p:cNvSpPr/>
          <p:nvPr/>
        </p:nvSpPr>
        <p:spPr>
          <a:xfrm>
            <a:off x="4507992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29" name="Shape 25"/>
          <p:cNvSpPr/>
          <p:nvPr/>
        </p:nvSpPr>
        <p:spPr>
          <a:xfrm>
            <a:off x="4653382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0" name="Shape 26"/>
          <p:cNvSpPr/>
          <p:nvPr/>
        </p:nvSpPr>
        <p:spPr>
          <a:xfrm>
            <a:off x="4797857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1" name="Shape 27"/>
          <p:cNvSpPr/>
          <p:nvPr/>
        </p:nvSpPr>
        <p:spPr>
          <a:xfrm>
            <a:off x="3781044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2" name="Shape 28"/>
          <p:cNvSpPr/>
          <p:nvPr/>
        </p:nvSpPr>
        <p:spPr>
          <a:xfrm>
            <a:off x="3926434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3" name="Shape 29"/>
          <p:cNvSpPr/>
          <p:nvPr/>
        </p:nvSpPr>
        <p:spPr>
          <a:xfrm>
            <a:off x="4071823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4" name="Shape 30"/>
          <p:cNvSpPr/>
          <p:nvPr/>
        </p:nvSpPr>
        <p:spPr>
          <a:xfrm>
            <a:off x="4217213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5" name="Shape 31"/>
          <p:cNvSpPr/>
          <p:nvPr/>
        </p:nvSpPr>
        <p:spPr>
          <a:xfrm>
            <a:off x="4362602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6" name="Shape 32"/>
          <p:cNvSpPr/>
          <p:nvPr/>
        </p:nvSpPr>
        <p:spPr>
          <a:xfrm>
            <a:off x="4507992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7" name="Shape 33"/>
          <p:cNvSpPr/>
          <p:nvPr/>
        </p:nvSpPr>
        <p:spPr>
          <a:xfrm>
            <a:off x="4653382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38" name="Shape 34"/>
          <p:cNvSpPr/>
          <p:nvPr/>
        </p:nvSpPr>
        <p:spPr>
          <a:xfrm>
            <a:off x="4797857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3781044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0" name="Shape 36"/>
          <p:cNvSpPr/>
          <p:nvPr/>
        </p:nvSpPr>
        <p:spPr>
          <a:xfrm>
            <a:off x="3926434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1" name="Shape 37"/>
          <p:cNvSpPr/>
          <p:nvPr/>
        </p:nvSpPr>
        <p:spPr>
          <a:xfrm>
            <a:off x="4071823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2" name="Shape 38"/>
          <p:cNvSpPr/>
          <p:nvPr/>
        </p:nvSpPr>
        <p:spPr>
          <a:xfrm>
            <a:off x="4217213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3" name="Shape 39"/>
          <p:cNvSpPr/>
          <p:nvPr/>
        </p:nvSpPr>
        <p:spPr>
          <a:xfrm>
            <a:off x="4362602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4" name="Shape 40"/>
          <p:cNvSpPr/>
          <p:nvPr/>
        </p:nvSpPr>
        <p:spPr>
          <a:xfrm>
            <a:off x="4507992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5" name="Shape 41"/>
          <p:cNvSpPr/>
          <p:nvPr/>
        </p:nvSpPr>
        <p:spPr>
          <a:xfrm>
            <a:off x="4653382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6" name="Shape 42"/>
          <p:cNvSpPr/>
          <p:nvPr/>
        </p:nvSpPr>
        <p:spPr>
          <a:xfrm>
            <a:off x="4797857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7" name="Shape 43"/>
          <p:cNvSpPr/>
          <p:nvPr/>
        </p:nvSpPr>
        <p:spPr>
          <a:xfrm>
            <a:off x="3781044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8" name="Shape 44"/>
          <p:cNvSpPr/>
          <p:nvPr/>
        </p:nvSpPr>
        <p:spPr>
          <a:xfrm>
            <a:off x="3926434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49" name="Shape 45"/>
          <p:cNvSpPr/>
          <p:nvPr/>
        </p:nvSpPr>
        <p:spPr>
          <a:xfrm>
            <a:off x="4071823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0" name="Shape 46"/>
          <p:cNvSpPr/>
          <p:nvPr/>
        </p:nvSpPr>
        <p:spPr>
          <a:xfrm>
            <a:off x="4217213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1" name="Shape 47"/>
          <p:cNvSpPr/>
          <p:nvPr/>
        </p:nvSpPr>
        <p:spPr>
          <a:xfrm>
            <a:off x="4362602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2" name="Shape 48"/>
          <p:cNvSpPr/>
          <p:nvPr/>
        </p:nvSpPr>
        <p:spPr>
          <a:xfrm>
            <a:off x="4507992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3" name="Shape 49"/>
          <p:cNvSpPr/>
          <p:nvPr/>
        </p:nvSpPr>
        <p:spPr>
          <a:xfrm>
            <a:off x="4653382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4" name="Shape 50"/>
          <p:cNvSpPr/>
          <p:nvPr/>
        </p:nvSpPr>
        <p:spPr>
          <a:xfrm>
            <a:off x="4797857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5" name="Shape 51"/>
          <p:cNvSpPr/>
          <p:nvPr/>
        </p:nvSpPr>
        <p:spPr>
          <a:xfrm>
            <a:off x="3781044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6" name="Shape 52"/>
          <p:cNvSpPr/>
          <p:nvPr/>
        </p:nvSpPr>
        <p:spPr>
          <a:xfrm>
            <a:off x="3926434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7" name="Shape 53"/>
          <p:cNvSpPr/>
          <p:nvPr/>
        </p:nvSpPr>
        <p:spPr>
          <a:xfrm>
            <a:off x="4071823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58" name="Shape 54"/>
          <p:cNvSpPr/>
          <p:nvPr/>
        </p:nvSpPr>
        <p:spPr>
          <a:xfrm>
            <a:off x="4217213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59" name="Shape 55"/>
          <p:cNvSpPr/>
          <p:nvPr/>
        </p:nvSpPr>
        <p:spPr>
          <a:xfrm>
            <a:off x="4362602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0" name="Shape 56"/>
          <p:cNvSpPr/>
          <p:nvPr/>
        </p:nvSpPr>
        <p:spPr>
          <a:xfrm>
            <a:off x="4507992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1" name="Shape 57"/>
          <p:cNvSpPr/>
          <p:nvPr/>
        </p:nvSpPr>
        <p:spPr>
          <a:xfrm>
            <a:off x="4653382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2" name="Shape 58"/>
          <p:cNvSpPr/>
          <p:nvPr/>
        </p:nvSpPr>
        <p:spPr>
          <a:xfrm>
            <a:off x="4797857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3" name="Shape 59"/>
          <p:cNvSpPr/>
          <p:nvPr/>
        </p:nvSpPr>
        <p:spPr>
          <a:xfrm>
            <a:off x="3781044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4" name="Shape 60"/>
          <p:cNvSpPr/>
          <p:nvPr/>
        </p:nvSpPr>
        <p:spPr>
          <a:xfrm>
            <a:off x="3926434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5" name="Shape 61"/>
          <p:cNvSpPr/>
          <p:nvPr/>
        </p:nvSpPr>
        <p:spPr>
          <a:xfrm>
            <a:off x="4071823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6" name="Shape 62"/>
          <p:cNvSpPr/>
          <p:nvPr/>
        </p:nvSpPr>
        <p:spPr>
          <a:xfrm>
            <a:off x="4217213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7" name="Shape 63"/>
          <p:cNvSpPr/>
          <p:nvPr/>
        </p:nvSpPr>
        <p:spPr>
          <a:xfrm>
            <a:off x="4362602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8" name="Shape 64"/>
          <p:cNvSpPr/>
          <p:nvPr/>
        </p:nvSpPr>
        <p:spPr>
          <a:xfrm>
            <a:off x="4507992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69" name="Shape 65"/>
          <p:cNvSpPr/>
          <p:nvPr/>
        </p:nvSpPr>
        <p:spPr>
          <a:xfrm>
            <a:off x="4653382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5E7EB"/>
          </a:solidFill>
          <a:ln/>
        </p:spPr>
      </p:sp>
      <p:sp>
        <p:nvSpPr>
          <p:cNvPr id="70" name="Shape 66"/>
          <p:cNvSpPr/>
          <p:nvPr/>
        </p:nvSpPr>
        <p:spPr>
          <a:xfrm>
            <a:off x="4797857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2563EB"/>
          </a:solidFill>
          <a:ln/>
        </p:spPr>
      </p:sp>
      <p:sp>
        <p:nvSpPr>
          <p:cNvPr id="71" name="Shape 67"/>
          <p:cNvSpPr/>
          <p:nvPr/>
        </p:nvSpPr>
        <p:spPr>
          <a:xfrm>
            <a:off x="3438144" y="240030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3543300" y="24387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</a:t>
            </a:r>
            <a:endParaRPr lang="en-US" sz="1200" dirty="0"/>
          </a:p>
        </p:txBody>
      </p:sp>
      <p:sp>
        <p:nvSpPr>
          <p:cNvPr id="73" name="Text 69"/>
          <p:cNvSpPr txBox="1"/>
          <p:nvPr/>
        </p:nvSpPr>
        <p:spPr>
          <a:xfrm>
            <a:off x="3738982" y="4276649"/>
            <a:ext cx="134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 (Sparse)</a:t>
            </a:r>
            <a:endParaRPr lang="en-US" sz="1200" dirty="0"/>
          </a:p>
        </p:txBody>
      </p:sp>
      <p:sp>
        <p:nvSpPr>
          <p:cNvPr id="74" name="Text 70"/>
          <p:cNvSpPr txBox="1"/>
          <p:nvPr/>
        </p:nvSpPr>
        <p:spPr>
          <a:xfrm>
            <a:off x="3787445" y="4505249"/>
            <a:ext cx="1233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대부분이 0인 고차원</a:t>
            </a:r>
            <a:endParaRPr lang="en-US" sz="1000" dirty="0"/>
          </a:p>
        </p:txBody>
      </p:sp>
      <p:pic>
        <p:nvPicPr>
          <p:cNvPr id="7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24398" y="3450031"/>
            <a:ext cx="342900" cy="342900"/>
          </a:xfrm>
          <a:prstGeom prst="rect">
            <a:avLst/>
          </a:prstGeom>
        </p:spPr>
      </p:pic>
      <p:sp>
        <p:nvSpPr>
          <p:cNvPr id="76" name="Shape 71"/>
          <p:cNvSpPr/>
          <p:nvPr/>
        </p:nvSpPr>
        <p:spPr>
          <a:xfrm>
            <a:off x="7029907" y="2505456"/>
            <a:ext cx="1619402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7" name="Shape 72"/>
          <p:cNvSpPr/>
          <p:nvPr/>
        </p:nvSpPr>
        <p:spPr>
          <a:xfrm>
            <a:off x="7267651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78" name="Shape 73"/>
          <p:cNvSpPr/>
          <p:nvPr/>
        </p:nvSpPr>
        <p:spPr>
          <a:xfrm>
            <a:off x="7413041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79" name="Shape 74"/>
          <p:cNvSpPr/>
          <p:nvPr/>
        </p:nvSpPr>
        <p:spPr>
          <a:xfrm>
            <a:off x="7558430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80" name="Shape 75"/>
          <p:cNvSpPr/>
          <p:nvPr/>
        </p:nvSpPr>
        <p:spPr>
          <a:xfrm>
            <a:off x="7702906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81" name="Shape 76"/>
          <p:cNvSpPr/>
          <p:nvPr/>
        </p:nvSpPr>
        <p:spPr>
          <a:xfrm>
            <a:off x="7848295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82" name="Shape 77"/>
          <p:cNvSpPr/>
          <p:nvPr/>
        </p:nvSpPr>
        <p:spPr>
          <a:xfrm>
            <a:off x="7993685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83" name="Shape 78"/>
          <p:cNvSpPr/>
          <p:nvPr/>
        </p:nvSpPr>
        <p:spPr>
          <a:xfrm>
            <a:off x="8139074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84" name="Shape 79"/>
          <p:cNvSpPr/>
          <p:nvPr/>
        </p:nvSpPr>
        <p:spPr>
          <a:xfrm>
            <a:off x="8284464" y="274320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85" name="Shape 80"/>
          <p:cNvSpPr/>
          <p:nvPr/>
        </p:nvSpPr>
        <p:spPr>
          <a:xfrm>
            <a:off x="7267651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86" name="Shape 81"/>
          <p:cNvSpPr/>
          <p:nvPr/>
        </p:nvSpPr>
        <p:spPr>
          <a:xfrm>
            <a:off x="7413041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87" name="Shape 82"/>
          <p:cNvSpPr/>
          <p:nvPr/>
        </p:nvSpPr>
        <p:spPr>
          <a:xfrm>
            <a:off x="7558430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88" name="Shape 83"/>
          <p:cNvSpPr/>
          <p:nvPr/>
        </p:nvSpPr>
        <p:spPr>
          <a:xfrm>
            <a:off x="7702906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89" name="Shape 84"/>
          <p:cNvSpPr/>
          <p:nvPr/>
        </p:nvSpPr>
        <p:spPr>
          <a:xfrm>
            <a:off x="7848295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90" name="Shape 85"/>
          <p:cNvSpPr/>
          <p:nvPr/>
        </p:nvSpPr>
        <p:spPr>
          <a:xfrm>
            <a:off x="7993685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91" name="Shape 86"/>
          <p:cNvSpPr/>
          <p:nvPr/>
        </p:nvSpPr>
        <p:spPr>
          <a:xfrm>
            <a:off x="8139074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92" name="Shape 87"/>
          <p:cNvSpPr/>
          <p:nvPr/>
        </p:nvSpPr>
        <p:spPr>
          <a:xfrm>
            <a:off x="8284464" y="2888590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93" name="Shape 88"/>
          <p:cNvSpPr/>
          <p:nvPr/>
        </p:nvSpPr>
        <p:spPr>
          <a:xfrm>
            <a:off x="7267651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94" name="Shape 89"/>
          <p:cNvSpPr/>
          <p:nvPr/>
        </p:nvSpPr>
        <p:spPr>
          <a:xfrm>
            <a:off x="7413041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95" name="Shape 90"/>
          <p:cNvSpPr/>
          <p:nvPr/>
        </p:nvSpPr>
        <p:spPr>
          <a:xfrm>
            <a:off x="7558430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96" name="Shape 91"/>
          <p:cNvSpPr/>
          <p:nvPr/>
        </p:nvSpPr>
        <p:spPr>
          <a:xfrm>
            <a:off x="7702906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97" name="Shape 92"/>
          <p:cNvSpPr/>
          <p:nvPr/>
        </p:nvSpPr>
        <p:spPr>
          <a:xfrm>
            <a:off x="7848295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98" name="Shape 93"/>
          <p:cNvSpPr/>
          <p:nvPr/>
        </p:nvSpPr>
        <p:spPr>
          <a:xfrm>
            <a:off x="7993685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99" name="Shape 94"/>
          <p:cNvSpPr/>
          <p:nvPr/>
        </p:nvSpPr>
        <p:spPr>
          <a:xfrm>
            <a:off x="8139074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00" name="Shape 95"/>
          <p:cNvSpPr/>
          <p:nvPr/>
        </p:nvSpPr>
        <p:spPr>
          <a:xfrm>
            <a:off x="8284464" y="303397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01" name="Shape 96"/>
          <p:cNvSpPr/>
          <p:nvPr/>
        </p:nvSpPr>
        <p:spPr>
          <a:xfrm>
            <a:off x="7267651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02" name="Shape 97"/>
          <p:cNvSpPr/>
          <p:nvPr/>
        </p:nvSpPr>
        <p:spPr>
          <a:xfrm>
            <a:off x="7413041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03" name="Shape 98"/>
          <p:cNvSpPr/>
          <p:nvPr/>
        </p:nvSpPr>
        <p:spPr>
          <a:xfrm>
            <a:off x="7558430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04" name="Shape 99"/>
          <p:cNvSpPr/>
          <p:nvPr/>
        </p:nvSpPr>
        <p:spPr>
          <a:xfrm>
            <a:off x="7702906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05" name="Shape 100"/>
          <p:cNvSpPr/>
          <p:nvPr/>
        </p:nvSpPr>
        <p:spPr>
          <a:xfrm>
            <a:off x="7848295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06" name="Shape 101"/>
          <p:cNvSpPr/>
          <p:nvPr/>
        </p:nvSpPr>
        <p:spPr>
          <a:xfrm>
            <a:off x="7993685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07" name="Shape 102"/>
          <p:cNvSpPr/>
          <p:nvPr/>
        </p:nvSpPr>
        <p:spPr>
          <a:xfrm>
            <a:off x="8139074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08" name="Shape 103"/>
          <p:cNvSpPr/>
          <p:nvPr/>
        </p:nvSpPr>
        <p:spPr>
          <a:xfrm>
            <a:off x="8284464" y="3179369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09" name="Shape 104"/>
          <p:cNvSpPr/>
          <p:nvPr/>
        </p:nvSpPr>
        <p:spPr>
          <a:xfrm>
            <a:off x="7267651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10" name="Shape 105"/>
          <p:cNvSpPr/>
          <p:nvPr/>
        </p:nvSpPr>
        <p:spPr>
          <a:xfrm>
            <a:off x="7413041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11" name="Shape 106"/>
          <p:cNvSpPr/>
          <p:nvPr/>
        </p:nvSpPr>
        <p:spPr>
          <a:xfrm>
            <a:off x="7558430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12" name="Shape 107"/>
          <p:cNvSpPr/>
          <p:nvPr/>
        </p:nvSpPr>
        <p:spPr>
          <a:xfrm>
            <a:off x="7702906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13" name="Shape 108"/>
          <p:cNvSpPr/>
          <p:nvPr/>
        </p:nvSpPr>
        <p:spPr>
          <a:xfrm>
            <a:off x="7848295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14" name="Shape 109"/>
          <p:cNvSpPr/>
          <p:nvPr/>
        </p:nvSpPr>
        <p:spPr>
          <a:xfrm>
            <a:off x="7993685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15" name="Shape 110"/>
          <p:cNvSpPr/>
          <p:nvPr/>
        </p:nvSpPr>
        <p:spPr>
          <a:xfrm>
            <a:off x="8139074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16" name="Shape 111"/>
          <p:cNvSpPr/>
          <p:nvPr/>
        </p:nvSpPr>
        <p:spPr>
          <a:xfrm>
            <a:off x="8284464" y="332384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17" name="Shape 112"/>
          <p:cNvSpPr/>
          <p:nvPr/>
        </p:nvSpPr>
        <p:spPr>
          <a:xfrm>
            <a:off x="7267651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18" name="Shape 113"/>
          <p:cNvSpPr/>
          <p:nvPr/>
        </p:nvSpPr>
        <p:spPr>
          <a:xfrm>
            <a:off x="7413041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19" name="Shape 114"/>
          <p:cNvSpPr/>
          <p:nvPr/>
        </p:nvSpPr>
        <p:spPr>
          <a:xfrm>
            <a:off x="7558430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20" name="Shape 115"/>
          <p:cNvSpPr/>
          <p:nvPr/>
        </p:nvSpPr>
        <p:spPr>
          <a:xfrm>
            <a:off x="7702906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21" name="Shape 116"/>
          <p:cNvSpPr/>
          <p:nvPr/>
        </p:nvSpPr>
        <p:spPr>
          <a:xfrm>
            <a:off x="7848295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22" name="Shape 117"/>
          <p:cNvSpPr/>
          <p:nvPr/>
        </p:nvSpPr>
        <p:spPr>
          <a:xfrm>
            <a:off x="7993685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23" name="Shape 118"/>
          <p:cNvSpPr/>
          <p:nvPr/>
        </p:nvSpPr>
        <p:spPr>
          <a:xfrm>
            <a:off x="8139074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24" name="Shape 119"/>
          <p:cNvSpPr/>
          <p:nvPr/>
        </p:nvSpPr>
        <p:spPr>
          <a:xfrm>
            <a:off x="8284464" y="3469234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25" name="Shape 120"/>
          <p:cNvSpPr/>
          <p:nvPr/>
        </p:nvSpPr>
        <p:spPr>
          <a:xfrm>
            <a:off x="7267651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26" name="Shape 121"/>
          <p:cNvSpPr/>
          <p:nvPr/>
        </p:nvSpPr>
        <p:spPr>
          <a:xfrm>
            <a:off x="7413041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27" name="Shape 122"/>
          <p:cNvSpPr/>
          <p:nvPr/>
        </p:nvSpPr>
        <p:spPr>
          <a:xfrm>
            <a:off x="7558430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28" name="Shape 123"/>
          <p:cNvSpPr/>
          <p:nvPr/>
        </p:nvSpPr>
        <p:spPr>
          <a:xfrm>
            <a:off x="7702906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29" name="Shape 124"/>
          <p:cNvSpPr/>
          <p:nvPr/>
        </p:nvSpPr>
        <p:spPr>
          <a:xfrm>
            <a:off x="7848295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30" name="Shape 125"/>
          <p:cNvSpPr/>
          <p:nvPr/>
        </p:nvSpPr>
        <p:spPr>
          <a:xfrm>
            <a:off x="7993685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31" name="Shape 126"/>
          <p:cNvSpPr/>
          <p:nvPr/>
        </p:nvSpPr>
        <p:spPr>
          <a:xfrm>
            <a:off x="8139074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32" name="Shape 127"/>
          <p:cNvSpPr/>
          <p:nvPr/>
        </p:nvSpPr>
        <p:spPr>
          <a:xfrm>
            <a:off x="8284464" y="361462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33" name="Shape 128"/>
          <p:cNvSpPr/>
          <p:nvPr/>
        </p:nvSpPr>
        <p:spPr>
          <a:xfrm>
            <a:off x="7267651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34" name="Shape 129"/>
          <p:cNvSpPr/>
          <p:nvPr/>
        </p:nvSpPr>
        <p:spPr>
          <a:xfrm>
            <a:off x="7413041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35" name="Shape 130"/>
          <p:cNvSpPr/>
          <p:nvPr/>
        </p:nvSpPr>
        <p:spPr>
          <a:xfrm>
            <a:off x="7558430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36" name="Shape 131"/>
          <p:cNvSpPr/>
          <p:nvPr/>
        </p:nvSpPr>
        <p:spPr>
          <a:xfrm>
            <a:off x="7702906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FF7ED"/>
          </a:solidFill>
          <a:ln/>
        </p:spPr>
      </p:sp>
      <p:sp>
        <p:nvSpPr>
          <p:cNvPr id="137" name="Shape 132"/>
          <p:cNvSpPr/>
          <p:nvPr/>
        </p:nvSpPr>
        <p:spPr>
          <a:xfrm>
            <a:off x="7848295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B923C"/>
          </a:solidFill>
          <a:ln/>
        </p:spPr>
      </p:sp>
      <p:sp>
        <p:nvSpPr>
          <p:cNvPr id="138" name="Shape 133"/>
          <p:cNvSpPr/>
          <p:nvPr/>
        </p:nvSpPr>
        <p:spPr>
          <a:xfrm>
            <a:off x="7993685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FED7AA"/>
          </a:solidFill>
          <a:ln/>
        </p:spPr>
      </p:sp>
      <p:sp>
        <p:nvSpPr>
          <p:cNvPr id="139" name="Shape 134"/>
          <p:cNvSpPr/>
          <p:nvPr/>
        </p:nvSpPr>
        <p:spPr>
          <a:xfrm>
            <a:off x="8139074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EA580C"/>
          </a:solidFill>
          <a:ln/>
        </p:spPr>
      </p:sp>
      <p:sp>
        <p:nvSpPr>
          <p:cNvPr id="140" name="Shape 135"/>
          <p:cNvSpPr/>
          <p:nvPr/>
        </p:nvSpPr>
        <p:spPr>
          <a:xfrm>
            <a:off x="8284464" y="3760013"/>
            <a:ext cx="133502" cy="133502"/>
          </a:xfrm>
          <a:prstGeom prst="roundRect">
            <a:avLst>
              <a:gd name="adj" fmla="val 97848"/>
            </a:avLst>
          </a:prstGeom>
          <a:solidFill>
            <a:srgbClr val="9A3412"/>
          </a:solidFill>
          <a:ln/>
        </p:spPr>
      </p:sp>
      <p:sp>
        <p:nvSpPr>
          <p:cNvPr id="141" name="Text 136"/>
          <p:cNvSpPr txBox="1"/>
          <p:nvPr/>
        </p:nvSpPr>
        <p:spPr>
          <a:xfrm>
            <a:off x="8546897" y="24387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200" dirty="0"/>
          </a:p>
        </p:txBody>
      </p:sp>
      <p:sp>
        <p:nvSpPr>
          <p:cNvPr id="142" name="Text 137"/>
          <p:cNvSpPr txBox="1"/>
          <p:nvPr/>
        </p:nvSpPr>
        <p:spPr>
          <a:xfrm>
            <a:off x="7250278" y="4276649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 (Dense)</a:t>
            </a:r>
            <a:endParaRPr lang="en-US" sz="1200" dirty="0"/>
          </a:p>
        </p:txBody>
      </p:sp>
      <p:sp>
        <p:nvSpPr>
          <p:cNvPr id="143" name="Text 138"/>
          <p:cNvSpPr txBox="1"/>
          <p:nvPr/>
        </p:nvSpPr>
        <p:spPr>
          <a:xfrm>
            <a:off x="7126834" y="4505249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실수값으로 채워진 저차원</a:t>
            </a:r>
            <a:endParaRPr lang="en-US" sz="1000" dirty="0"/>
          </a:p>
        </p:txBody>
      </p:sp>
      <p:sp>
        <p:nvSpPr>
          <p:cNvPr id="144" name="Shape 139"/>
          <p:cNvSpPr/>
          <p:nvPr/>
        </p:nvSpPr>
        <p:spPr>
          <a:xfrm>
            <a:off x="2547518" y="5305349"/>
            <a:ext cx="21717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5" name="Shape 140"/>
          <p:cNvSpPr/>
          <p:nvPr/>
        </p:nvSpPr>
        <p:spPr>
          <a:xfrm>
            <a:off x="2547518" y="5305349"/>
            <a:ext cx="38405" cy="60990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6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2814523" y="5514746"/>
            <a:ext cx="171907" cy="190195"/>
          </a:xfrm>
          <a:prstGeom prst="rect">
            <a:avLst/>
          </a:prstGeom>
        </p:spPr>
      </p:pic>
      <p:sp>
        <p:nvSpPr>
          <p:cNvPr id="147" name="Text 141"/>
          <p:cNvSpPr txBox="1"/>
          <p:nvPr/>
        </p:nvSpPr>
        <p:spPr>
          <a:xfrm>
            <a:off x="3099816" y="5410505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 1</a:t>
            </a:r>
            <a:endParaRPr lang="en-US" sz="900" dirty="0"/>
          </a:p>
        </p:txBody>
      </p:sp>
      <p:sp>
        <p:nvSpPr>
          <p:cNvPr id="148" name="Text 142"/>
          <p:cNvSpPr txBox="1"/>
          <p:nvPr/>
        </p:nvSpPr>
        <p:spPr>
          <a:xfrm>
            <a:off x="3099816" y="5572354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표현의 기본 개념</a:t>
            </a:r>
            <a:endParaRPr lang="en-US" sz="1200" dirty="0"/>
          </a:p>
        </p:txBody>
      </p:sp>
      <p:sp>
        <p:nvSpPr>
          <p:cNvPr id="149" name="Shape 143"/>
          <p:cNvSpPr/>
          <p:nvPr/>
        </p:nvSpPr>
        <p:spPr>
          <a:xfrm>
            <a:off x="5023714" y="5305349"/>
            <a:ext cx="2085746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50" name="Shape 144"/>
          <p:cNvSpPr/>
          <p:nvPr/>
        </p:nvSpPr>
        <p:spPr>
          <a:xfrm>
            <a:off x="5023714" y="5305349"/>
            <a:ext cx="38405" cy="60990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1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5289804" y="5514746"/>
            <a:ext cx="219456" cy="190195"/>
          </a:xfrm>
          <a:prstGeom prst="rect">
            <a:avLst/>
          </a:prstGeom>
        </p:spPr>
      </p:pic>
      <p:sp>
        <p:nvSpPr>
          <p:cNvPr id="152" name="Text 145"/>
          <p:cNvSpPr txBox="1"/>
          <p:nvPr/>
        </p:nvSpPr>
        <p:spPr>
          <a:xfrm>
            <a:off x="5623560" y="5410505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 2</a:t>
            </a:r>
            <a:endParaRPr lang="en-US" sz="900" dirty="0"/>
          </a:p>
        </p:txBody>
      </p:sp>
      <p:sp>
        <p:nvSpPr>
          <p:cNvPr id="153" name="Text 146"/>
          <p:cNvSpPr txBox="1"/>
          <p:nvPr/>
        </p:nvSpPr>
        <p:spPr>
          <a:xfrm>
            <a:off x="5623560" y="557235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벡터의 특징 비교</a:t>
            </a:r>
            <a:endParaRPr lang="en-US" sz="1200" dirty="0"/>
          </a:p>
        </p:txBody>
      </p:sp>
      <p:sp>
        <p:nvSpPr>
          <p:cNvPr id="154" name="Shape 147"/>
          <p:cNvSpPr/>
          <p:nvPr/>
        </p:nvSpPr>
        <p:spPr>
          <a:xfrm>
            <a:off x="7406640" y="5305349"/>
            <a:ext cx="2238451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55" name="Shape 148"/>
          <p:cNvSpPr/>
          <p:nvPr/>
        </p:nvSpPr>
        <p:spPr>
          <a:xfrm>
            <a:off x="7406640" y="5305349"/>
            <a:ext cx="38405" cy="6099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73645" y="5514746"/>
            <a:ext cx="237744" cy="190195"/>
          </a:xfrm>
          <a:prstGeom prst="rect">
            <a:avLst/>
          </a:prstGeom>
        </p:spPr>
      </p:pic>
      <p:sp>
        <p:nvSpPr>
          <p:cNvPr id="157" name="Text 149"/>
          <p:cNvSpPr txBox="1"/>
          <p:nvPr/>
        </p:nvSpPr>
        <p:spPr>
          <a:xfrm>
            <a:off x="8025689" y="5410505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 3</a:t>
            </a:r>
            <a:endParaRPr lang="en-US" sz="900" dirty="0"/>
          </a:p>
        </p:txBody>
      </p:sp>
      <p:sp>
        <p:nvSpPr>
          <p:cNvPr id="158" name="Text 150"/>
          <p:cNvSpPr txBox="1"/>
          <p:nvPr/>
        </p:nvSpPr>
        <p:spPr>
          <a:xfrm>
            <a:off x="8025689" y="5572354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최적의 활용 전략 도출</a:t>
            </a:r>
            <a:endParaRPr lang="en-US" sz="1200" dirty="0"/>
          </a:p>
        </p:txBody>
      </p:sp>
      <p:sp>
        <p:nvSpPr>
          <p:cNvPr id="159" name="Shape 151"/>
          <p:cNvSpPr/>
          <p:nvPr/>
        </p:nvSpPr>
        <p:spPr>
          <a:xfrm>
            <a:off x="0" y="6752844"/>
            <a:ext cx="12191695" cy="8860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Shape 152"/>
          <p:cNvSpPr/>
          <p:nvPr/>
        </p:nvSpPr>
        <p:spPr>
          <a:xfrm>
            <a:off x="0" y="6752844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1" name="Shape 153"/>
          <p:cNvSpPr/>
          <p:nvPr/>
        </p:nvSpPr>
        <p:spPr>
          <a:xfrm>
            <a:off x="1218895" y="6991502"/>
            <a:ext cx="1904695" cy="418795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62" name="Text 154"/>
          <p:cNvSpPr txBox="1"/>
          <p:nvPr/>
        </p:nvSpPr>
        <p:spPr>
          <a:xfrm>
            <a:off x="2118665" y="7086600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</a:t>
            </a:r>
            <a:endParaRPr lang="en-US" sz="1200" dirty="0"/>
          </a:p>
        </p:txBody>
      </p:sp>
      <p:sp>
        <p:nvSpPr>
          <p:cNvPr id="163" name="Text 155"/>
          <p:cNvSpPr txBox="1"/>
          <p:nvPr/>
        </p:nvSpPr>
        <p:spPr>
          <a:xfrm>
            <a:off x="1868119" y="708660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164" name="Shape 156"/>
          <p:cNvSpPr/>
          <p:nvPr/>
        </p:nvSpPr>
        <p:spPr>
          <a:xfrm>
            <a:off x="3834994" y="6991502"/>
            <a:ext cx="1904695" cy="4187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5" name="Text 157"/>
          <p:cNvSpPr txBox="1"/>
          <p:nvPr/>
        </p:nvSpPr>
        <p:spPr>
          <a:xfrm>
            <a:off x="4331513" y="7086600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희소벡터(Sparse)</a:t>
            </a:r>
            <a:endParaRPr lang="en-US" sz="1200" dirty="0"/>
          </a:p>
        </p:txBody>
      </p:sp>
      <p:sp>
        <p:nvSpPr>
          <p:cNvPr id="166" name="Text 158"/>
          <p:cNvSpPr txBox="1"/>
          <p:nvPr/>
        </p:nvSpPr>
        <p:spPr>
          <a:xfrm>
            <a:off x="4080967" y="708660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67" name="Shape 159"/>
          <p:cNvSpPr/>
          <p:nvPr/>
        </p:nvSpPr>
        <p:spPr>
          <a:xfrm>
            <a:off x="6451092" y="6991502"/>
            <a:ext cx="1904695" cy="4187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8" name="Text 160"/>
          <p:cNvSpPr txBox="1"/>
          <p:nvPr/>
        </p:nvSpPr>
        <p:spPr>
          <a:xfrm>
            <a:off x="6970471" y="7086600"/>
            <a:ext cx="1239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밀집벡터(Dense)</a:t>
            </a:r>
            <a:endParaRPr lang="en-US" sz="1200" dirty="0"/>
          </a:p>
        </p:txBody>
      </p:sp>
      <p:sp>
        <p:nvSpPr>
          <p:cNvPr id="169" name="Text 161"/>
          <p:cNvSpPr txBox="1"/>
          <p:nvPr/>
        </p:nvSpPr>
        <p:spPr>
          <a:xfrm>
            <a:off x="6720840" y="708660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170" name="Shape 162"/>
          <p:cNvSpPr/>
          <p:nvPr/>
        </p:nvSpPr>
        <p:spPr>
          <a:xfrm>
            <a:off x="9067190" y="6991502"/>
            <a:ext cx="1904695" cy="41879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1" name="Text 163"/>
          <p:cNvSpPr txBox="1"/>
          <p:nvPr/>
        </p:nvSpPr>
        <p:spPr>
          <a:xfrm>
            <a:off x="9752076" y="7086600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및 활용</a:t>
            </a:r>
            <a:endParaRPr lang="en-US" sz="1200" dirty="0"/>
          </a:p>
        </p:txBody>
      </p:sp>
      <p:sp>
        <p:nvSpPr>
          <p:cNvPr id="172" name="Text 164"/>
          <p:cNvSpPr txBox="1"/>
          <p:nvPr/>
        </p:nvSpPr>
        <p:spPr>
          <a:xfrm>
            <a:off x="9501530" y="708660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173" name="Shape 165"/>
          <p:cNvSpPr/>
          <p:nvPr/>
        </p:nvSpPr>
        <p:spPr>
          <a:xfrm>
            <a:off x="4853635" y="457200"/>
            <a:ext cx="523951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/>
        </p:spPr>
      </p:sp>
      <p:sp>
        <p:nvSpPr>
          <p:cNvPr id="174" name="Shape 166"/>
          <p:cNvSpPr/>
          <p:nvPr/>
        </p:nvSpPr>
        <p:spPr>
          <a:xfrm>
            <a:off x="6548018" y="457200"/>
            <a:ext cx="790956" cy="267005"/>
          </a:xfrm>
          <a:prstGeom prst="roundRect">
            <a:avLst>
              <a:gd name="adj" fmla="val 342465"/>
            </a:avLst>
          </a:prstGeom>
          <a:solidFill>
            <a:srgbClr val="F3F4F6"/>
          </a:solidFill>
          <a:ln/>
        </p:spPr>
      </p:sp>
      <p:sp>
        <p:nvSpPr>
          <p:cNvPr id="175" name="Text 167"/>
          <p:cNvSpPr txBox="1"/>
          <p:nvPr/>
        </p:nvSpPr>
        <p:spPr>
          <a:xfrm>
            <a:off x="4967935" y="495605"/>
            <a:ext cx="395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</a:t>
            </a:r>
            <a:endParaRPr lang="en-US" sz="1000" dirty="0"/>
          </a:p>
        </p:txBody>
      </p:sp>
      <p:sp>
        <p:nvSpPr>
          <p:cNvPr id="176" name="Text 168"/>
          <p:cNvSpPr txBox="1"/>
          <p:nvPr/>
        </p:nvSpPr>
        <p:spPr>
          <a:xfrm>
            <a:off x="5634533" y="495605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추천시스템</a:t>
            </a:r>
            <a:endParaRPr lang="en-US" sz="1000" dirty="0"/>
          </a:p>
        </p:txBody>
      </p:sp>
      <p:sp>
        <p:nvSpPr>
          <p:cNvPr id="177" name="Text 169"/>
          <p:cNvSpPr txBox="1"/>
          <p:nvPr/>
        </p:nvSpPr>
        <p:spPr>
          <a:xfrm>
            <a:off x="6662318" y="495605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표현</a:t>
            </a:r>
            <a:endParaRPr lang="en-US" sz="1000" dirty="0"/>
          </a:p>
        </p:txBody>
      </p:sp>
      <p:sp>
        <p:nvSpPr>
          <p:cNvPr id="178" name="Text 170"/>
          <p:cNvSpPr txBox="1"/>
          <p:nvPr/>
        </p:nvSpPr>
        <p:spPr>
          <a:xfrm>
            <a:off x="3513125" y="819302"/>
            <a:ext cx="56007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 vs 희소벡터</a:t>
            </a:r>
            <a:endParaRPr lang="en-US" sz="4500" dirty="0"/>
          </a:p>
        </p:txBody>
      </p:sp>
      <p:sp>
        <p:nvSpPr>
          <p:cNvPr id="179" name="Text 171"/>
          <p:cNvSpPr txBox="1"/>
          <p:nvPr/>
        </p:nvSpPr>
        <p:spPr>
          <a:xfrm>
            <a:off x="3737153" y="1723644"/>
            <a:ext cx="48966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표현의 두 가지 핵심 방식 이해와 활용 전략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75895"/>
            <a:ext cx="5086807" cy="592439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5077663" y="75895"/>
            <a:ext cx="9144" cy="5924398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152705" y="276149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1326" y="4464101"/>
            <a:ext cx="3047695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741018" y="4569257"/>
            <a:ext cx="16770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값의 분포 (Value Distribution)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824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0" name="Shape 7"/>
          <p:cNvSpPr/>
          <p:nvPr/>
        </p:nvSpPr>
        <p:spPr>
          <a:xfrm>
            <a:off x="20967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1" name="Shape 8"/>
          <p:cNvSpPr/>
          <p:nvPr/>
        </p:nvSpPr>
        <p:spPr>
          <a:xfrm>
            <a:off x="2211019" y="5149901"/>
            <a:ext cx="75895" cy="114300"/>
          </a:xfrm>
          <a:prstGeom prst="roundRect">
            <a:avLst>
              <a:gd name="adj" fmla="val 301206"/>
            </a:avLst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23253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3" name="Shape 10"/>
          <p:cNvSpPr/>
          <p:nvPr/>
        </p:nvSpPr>
        <p:spPr>
          <a:xfrm>
            <a:off x="24396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4" name="Shape 11"/>
          <p:cNvSpPr/>
          <p:nvPr/>
        </p:nvSpPr>
        <p:spPr>
          <a:xfrm>
            <a:off x="25539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5" name="Shape 12"/>
          <p:cNvSpPr/>
          <p:nvPr/>
        </p:nvSpPr>
        <p:spPr>
          <a:xfrm>
            <a:off x="26682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6" name="Shape 13"/>
          <p:cNvSpPr/>
          <p:nvPr/>
        </p:nvSpPr>
        <p:spPr>
          <a:xfrm>
            <a:off x="2782519" y="5111496"/>
            <a:ext cx="75895" cy="152705"/>
          </a:xfrm>
          <a:prstGeom prst="roundRect">
            <a:avLst>
              <a:gd name="adj" fmla="val 301206"/>
            </a:avLst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28968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8" name="Shape 15"/>
          <p:cNvSpPr/>
          <p:nvPr/>
        </p:nvSpPr>
        <p:spPr>
          <a:xfrm>
            <a:off x="3011119" y="4807001"/>
            <a:ext cx="75895" cy="457200"/>
          </a:xfrm>
          <a:prstGeom prst="roundRect">
            <a:avLst>
              <a:gd name="adj" fmla="val 301206"/>
            </a:avLst>
          </a:prstGeom>
          <a:solidFill>
            <a:srgbClr val="D1D5DB"/>
          </a:solidFill>
          <a:ln/>
        </p:spPr>
      </p:sp>
      <p:sp>
        <p:nvSpPr>
          <p:cNvPr id="19" name="Shape 16"/>
          <p:cNvSpPr/>
          <p:nvPr/>
        </p:nvSpPr>
        <p:spPr>
          <a:xfrm>
            <a:off x="5537606" y="254203"/>
            <a:ext cx="694944" cy="190195"/>
          </a:xfrm>
          <a:prstGeom prst="roundRect">
            <a:avLst>
              <a:gd name="adj" fmla="val 96154"/>
            </a:avLst>
          </a:prstGeom>
          <a:solidFill>
            <a:srgbClr val="DBEAF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13502" y="263347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299302" y="254203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02. Sparse Vector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537606" y="463601"/>
            <a:ext cx="42775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 (Sparse Vector)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5537606" y="1130198"/>
            <a:ext cx="6200546" cy="94274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Shape 21"/>
          <p:cNvSpPr/>
          <p:nvPr/>
        </p:nvSpPr>
        <p:spPr>
          <a:xfrm>
            <a:off x="5537606" y="1130198"/>
            <a:ext cx="38405" cy="94274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766206" y="1330452"/>
            <a:ext cx="582472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벡터의 차원은 매우 크지만(High-dimensional), 대부분의 요소가 0으로 채워져 있는 벡터 표현 방식</a:t>
            </a:r>
            <a:endParaRPr lang="en-US" sz="13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7606" y="2420417"/>
            <a:ext cx="171907" cy="17190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784494" y="2372868"/>
            <a:ext cx="8147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특징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537606" y="2792578"/>
            <a:ext cx="3029407" cy="8385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537606" y="2792578"/>
            <a:ext cx="38405" cy="8385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Shape 26"/>
          <p:cNvSpPr/>
          <p:nvPr/>
        </p:nvSpPr>
        <p:spPr>
          <a:xfrm>
            <a:off x="5727802" y="2982773"/>
            <a:ext cx="304495" cy="38130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5803697" y="3123590"/>
            <a:ext cx="152705" cy="13350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146597" y="2944368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해석 (Interpretability)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6146597" y="3163824"/>
            <a:ext cx="22576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차원이 특정 단어나 속성과 1:1 매칭되어 의미 파악 용이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8712403" y="2792578"/>
            <a:ext cx="3029407" cy="8385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712403" y="2792578"/>
            <a:ext cx="38405" cy="83850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Shape 31"/>
          <p:cNvSpPr/>
          <p:nvPr/>
        </p:nvSpPr>
        <p:spPr>
          <a:xfrm>
            <a:off x="8902598" y="2982773"/>
            <a:ext cx="286207" cy="381305"/>
          </a:xfrm>
          <a:prstGeom prst="roundRect">
            <a:avLst>
              <a:gd name="adj" fmla="val 319489"/>
            </a:avLst>
          </a:prstGeom>
          <a:solidFill>
            <a:srgbClr val="FEE2E2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78494" y="3123590"/>
            <a:ext cx="133502" cy="13350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303106" y="2944368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차원의 저주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9303106" y="3163824"/>
            <a:ext cx="23052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0 값이 많아 공간 낭비 및 연산 비효율 발생 가능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537606" y="4049878"/>
            <a:ext cx="6200546" cy="1772107"/>
          </a:xfrm>
          <a:prstGeom prst="roundRect">
            <a:avLst>
              <a:gd name="adj" fmla="val 33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5775350" y="4323283"/>
            <a:ext cx="171907" cy="133502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023153" y="4287622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One-hot Encoding 예시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0238537" y="4315968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Vocabulary Size: 10,000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5775350" y="455462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단어: "사과(Apple)"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5775350" y="4783226"/>
            <a:ext cx="5724144" cy="400507"/>
          </a:xfrm>
          <a:prstGeom prst="roundRect">
            <a:avLst>
              <a:gd name="adj" fmla="val 32616"/>
            </a:avLst>
          </a:prstGeom>
          <a:solidFill>
            <a:srgbClr val="1F2937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5917997" y="4897526"/>
            <a:ext cx="10085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...,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823253" y="4897526"/>
            <a:ext cx="161849" cy="152705"/>
          </a:xfrm>
          <a:prstGeom prst="roundRect">
            <a:avLst>
              <a:gd name="adj" fmla="val 149700"/>
            </a:avLst>
          </a:prstGeom>
          <a:solidFill>
            <a:srgbClr val="2563EB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6860743" y="4897526"/>
            <a:ext cx="1892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6981444" y="4897526"/>
            <a:ext cx="10936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0, ..., 0]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6537046" y="5194706"/>
            <a:ext cx="629107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Index: 342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5775350" y="5331866"/>
            <a:ext cx="629107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861304" y="536935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TF-IDF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6475781" y="5331866"/>
            <a:ext cx="1019556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560820" y="536935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Bag-of-Words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7563917" y="5331866"/>
            <a:ext cx="1037844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648956" y="5369357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검색엔진 역색인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1011326" y="1110996"/>
            <a:ext cx="3047695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1163117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1441094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997964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2275942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2553919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2831897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3110789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3388766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3666744" y="126370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163117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1441094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1719986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997964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2275942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2553919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2831897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3110789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3388766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3666744" y="154167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1163117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1441094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1719986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1997964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2275942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2831897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3110789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3388766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3666744" y="181965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1163117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1441094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1719986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1997964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2275942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2553919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2831897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3110789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3388766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3666744" y="2097634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1163117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1441094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1719986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1997964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2275942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2553919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2831897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3110789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3666744" y="237652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1163117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1441094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>
            <a:off x="1719986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1997964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2275942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2553919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2831897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3110789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3388766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3666744" y="2654503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1163117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1719986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1997964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2275942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2553919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2831897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3110789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3388766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3666744" y="2932481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1163117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>
            <a:off x="1441094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1719986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>
            <a:off x="1997964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2275942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>
            <a:off x="2553919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2831897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>
            <a:off x="3110789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3388766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>
            <a:off x="3666744" y="321045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1163117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5" name="Shape 128"/>
          <p:cNvSpPr/>
          <p:nvPr/>
        </p:nvSpPr>
        <p:spPr>
          <a:xfrm>
            <a:off x="1441094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1719986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7" name="Shape 130"/>
          <p:cNvSpPr/>
          <p:nvPr/>
        </p:nvSpPr>
        <p:spPr>
          <a:xfrm>
            <a:off x="1997964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8" name="Shape 131"/>
          <p:cNvSpPr/>
          <p:nvPr/>
        </p:nvSpPr>
        <p:spPr>
          <a:xfrm>
            <a:off x="2275942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9" name="Shape 132"/>
          <p:cNvSpPr/>
          <p:nvPr/>
        </p:nvSpPr>
        <p:spPr>
          <a:xfrm>
            <a:off x="2553919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0" name="Shape 133"/>
          <p:cNvSpPr/>
          <p:nvPr/>
        </p:nvSpPr>
        <p:spPr>
          <a:xfrm>
            <a:off x="2831897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1" name="Shape 134"/>
          <p:cNvSpPr/>
          <p:nvPr/>
        </p:nvSpPr>
        <p:spPr>
          <a:xfrm>
            <a:off x="3110789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2" name="Shape 135"/>
          <p:cNvSpPr/>
          <p:nvPr/>
        </p:nvSpPr>
        <p:spPr>
          <a:xfrm>
            <a:off x="3388766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3" name="Shape 136"/>
          <p:cNvSpPr/>
          <p:nvPr/>
        </p:nvSpPr>
        <p:spPr>
          <a:xfrm>
            <a:off x="3666744" y="3488436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4" name="Shape 137"/>
          <p:cNvSpPr/>
          <p:nvPr/>
        </p:nvSpPr>
        <p:spPr>
          <a:xfrm>
            <a:off x="1163117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5" name="Shape 138"/>
          <p:cNvSpPr/>
          <p:nvPr/>
        </p:nvSpPr>
        <p:spPr>
          <a:xfrm>
            <a:off x="1441094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6" name="Shape 139"/>
          <p:cNvSpPr/>
          <p:nvPr/>
        </p:nvSpPr>
        <p:spPr>
          <a:xfrm>
            <a:off x="1719986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7" name="Shape 140"/>
          <p:cNvSpPr/>
          <p:nvPr/>
        </p:nvSpPr>
        <p:spPr>
          <a:xfrm>
            <a:off x="1997964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8" name="Shape 141"/>
          <p:cNvSpPr/>
          <p:nvPr/>
        </p:nvSpPr>
        <p:spPr>
          <a:xfrm>
            <a:off x="2275942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2553919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0" name="Shape 143"/>
          <p:cNvSpPr/>
          <p:nvPr/>
        </p:nvSpPr>
        <p:spPr>
          <a:xfrm>
            <a:off x="2831897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1" name="Shape 144"/>
          <p:cNvSpPr/>
          <p:nvPr/>
        </p:nvSpPr>
        <p:spPr>
          <a:xfrm>
            <a:off x="3110789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3388766" y="3767328"/>
            <a:ext cx="247802" cy="247802"/>
          </a:xfrm>
          <a:prstGeom prst="roundRect">
            <a:avLst>
              <a:gd name="adj" fmla="val 425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734617" y="735178"/>
            <a:ext cx="190195" cy="190195"/>
          </a:xfrm>
          <a:prstGeom prst="rect">
            <a:avLst/>
          </a:prstGeom>
        </p:spPr>
      </p:pic>
      <p:sp>
        <p:nvSpPr>
          <p:cNvPr id="154" name="Text 146"/>
          <p:cNvSpPr txBox="1"/>
          <p:nvPr/>
        </p:nvSpPr>
        <p:spPr>
          <a:xfrm>
            <a:off x="2001622" y="683057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 행렬 시각화</a:t>
            </a:r>
            <a:endParaRPr lang="en-US" sz="1500" dirty="0"/>
          </a:p>
        </p:txBody>
      </p:sp>
      <p:sp>
        <p:nvSpPr>
          <p:cNvPr id="155" name="Shape 147"/>
          <p:cNvSpPr/>
          <p:nvPr/>
        </p:nvSpPr>
        <p:spPr>
          <a:xfrm>
            <a:off x="1708099" y="1251814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12700" dir="16200000">
              <a:srgbClr val="2563eb">
                <a:alpha val="40000"/>
              </a:srgbClr>
            </a:outerShdw>
          </a:effectLst>
        </p:spPr>
      </p:sp>
      <p:sp>
        <p:nvSpPr>
          <p:cNvPr id="156" name="Shape 148"/>
          <p:cNvSpPr/>
          <p:nvPr/>
        </p:nvSpPr>
        <p:spPr>
          <a:xfrm>
            <a:off x="2542032" y="1807769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12700" dir="16200000">
              <a:srgbClr val="2563eb">
                <a:alpha val="40000"/>
              </a:srgbClr>
            </a:outerShdw>
          </a:effectLst>
        </p:spPr>
      </p:sp>
      <p:sp>
        <p:nvSpPr>
          <p:cNvPr id="157" name="Shape 149"/>
          <p:cNvSpPr/>
          <p:nvPr/>
        </p:nvSpPr>
        <p:spPr>
          <a:xfrm>
            <a:off x="3376879" y="2364638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12700" dir="16200000">
              <a:srgbClr val="2563eb">
                <a:alpha val="40000"/>
              </a:srgbClr>
            </a:outerShdw>
          </a:effectLst>
        </p:spPr>
      </p:sp>
      <p:sp>
        <p:nvSpPr>
          <p:cNvPr id="158" name="Shape 150"/>
          <p:cNvSpPr/>
          <p:nvPr/>
        </p:nvSpPr>
        <p:spPr>
          <a:xfrm>
            <a:off x="1429207" y="2920594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12700" dir="16200000">
              <a:srgbClr val="2563eb">
                <a:alpha val="40000"/>
              </a:srgbClr>
            </a:outerShdw>
          </a:effectLst>
        </p:spPr>
      </p:sp>
      <p:sp>
        <p:nvSpPr>
          <p:cNvPr id="159" name="Shape 151"/>
          <p:cNvSpPr/>
          <p:nvPr/>
        </p:nvSpPr>
        <p:spPr>
          <a:xfrm>
            <a:off x="3654857" y="3755441"/>
            <a:ext cx="267005" cy="267005"/>
          </a:xfrm>
          <a:prstGeom prst="roundRect">
            <a:avLst>
              <a:gd name="adj" fmla="val 3669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12700" dir="16200000">
              <a:srgbClr val="2563eb">
                <a:alpha val="40000"/>
              </a:srgbClr>
            </a:outerShdw>
          </a:effectLst>
        </p:spPr>
      </p:sp>
      <p:sp>
        <p:nvSpPr>
          <p:cNvPr id="160" name="Shape 152"/>
          <p:cNvSpPr/>
          <p:nvPr/>
        </p:nvSpPr>
        <p:spPr>
          <a:xfrm>
            <a:off x="0" y="5994806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Shape 153"/>
          <p:cNvSpPr/>
          <p:nvPr/>
        </p:nvSpPr>
        <p:spPr>
          <a:xfrm>
            <a:off x="0" y="599480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2" name="Shape 154"/>
          <p:cNvSpPr/>
          <p:nvPr/>
        </p:nvSpPr>
        <p:spPr>
          <a:xfrm>
            <a:off x="1218895" y="6233465"/>
            <a:ext cx="1904695" cy="400507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163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1921154" y="6389827"/>
            <a:ext cx="105156" cy="114300"/>
          </a:xfrm>
          <a:prstGeom prst="rect">
            <a:avLst/>
          </a:prstGeom>
        </p:spPr>
      </p:pic>
      <p:sp>
        <p:nvSpPr>
          <p:cNvPr id="164" name="Text 155"/>
          <p:cNvSpPr txBox="1"/>
          <p:nvPr/>
        </p:nvSpPr>
        <p:spPr>
          <a:xfrm>
            <a:off x="2102206" y="6328562"/>
            <a:ext cx="4270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</a:t>
            </a:r>
            <a:endParaRPr lang="en-US" sz="1000" dirty="0"/>
          </a:p>
        </p:txBody>
      </p:sp>
      <p:sp>
        <p:nvSpPr>
          <p:cNvPr id="165" name="Shape 156"/>
          <p:cNvSpPr/>
          <p:nvPr/>
        </p:nvSpPr>
        <p:spPr>
          <a:xfrm>
            <a:off x="3834994" y="6233465"/>
            <a:ext cx="1904695" cy="400507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6" name="Text 157"/>
          <p:cNvSpPr txBox="1"/>
          <p:nvPr/>
        </p:nvSpPr>
        <p:spPr>
          <a:xfrm>
            <a:off x="4145890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67" name="Text 158"/>
          <p:cNvSpPr txBox="1"/>
          <p:nvPr/>
        </p:nvSpPr>
        <p:spPr>
          <a:xfrm>
            <a:off x="4383634" y="6328562"/>
            <a:ext cx="1151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희소벡터(Sparse)</a:t>
            </a:r>
            <a:endParaRPr lang="en-US" sz="1000" dirty="0"/>
          </a:p>
        </p:txBody>
      </p:sp>
      <p:sp>
        <p:nvSpPr>
          <p:cNvPr id="168" name="Shape 159"/>
          <p:cNvSpPr/>
          <p:nvPr/>
        </p:nvSpPr>
        <p:spPr>
          <a:xfrm>
            <a:off x="6451092" y="6233465"/>
            <a:ext cx="1904695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9" name="Text 160"/>
          <p:cNvSpPr txBox="1"/>
          <p:nvPr/>
        </p:nvSpPr>
        <p:spPr>
          <a:xfrm>
            <a:off x="7018020" y="6328562"/>
            <a:ext cx="11128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밀집벡터(Dense)</a:t>
            </a:r>
            <a:endParaRPr lang="en-US" sz="1000" dirty="0"/>
          </a:p>
        </p:txBody>
      </p:sp>
      <p:sp>
        <p:nvSpPr>
          <p:cNvPr id="170" name="Text 161"/>
          <p:cNvSpPr txBox="1"/>
          <p:nvPr/>
        </p:nvSpPr>
        <p:spPr>
          <a:xfrm>
            <a:off x="6785762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71" name="Shape 162"/>
          <p:cNvSpPr/>
          <p:nvPr/>
        </p:nvSpPr>
        <p:spPr>
          <a:xfrm>
            <a:off x="9067190" y="6233465"/>
            <a:ext cx="1904695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2" name="Text 163"/>
          <p:cNvSpPr txBox="1"/>
          <p:nvPr/>
        </p:nvSpPr>
        <p:spPr>
          <a:xfrm>
            <a:off x="9782251" y="6328562"/>
            <a:ext cx="817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및 활용</a:t>
            </a:r>
            <a:endParaRPr lang="en-US" sz="1000" dirty="0"/>
          </a:p>
        </p:txBody>
      </p:sp>
      <p:sp>
        <p:nvSpPr>
          <p:cNvPr id="173" name="Text 164"/>
          <p:cNvSpPr txBox="1"/>
          <p:nvPr/>
        </p:nvSpPr>
        <p:spPr>
          <a:xfrm>
            <a:off x="9549994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rcRect l="0" r="0" t="0" b="0"/>
          <a:stretch/>
        </p:blipFill>
        <p:spPr>
          <a:xfrm>
            <a:off x="11011205" y="4927702"/>
            <a:ext cx="10287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5895"/>
            <a:ext cx="7114946" cy="5924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105802" y="75895"/>
            <a:ext cx="9144" cy="592439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130198"/>
            <a:ext cx="38405" cy="942746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2420417"/>
            <a:ext cx="171907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5002" y="2372868"/>
            <a:ext cx="13862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특징 및 장점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792578"/>
            <a:ext cx="3019349" cy="8385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" y="2792578"/>
            <a:ext cx="38405" cy="83850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Shape 8"/>
          <p:cNvSpPr/>
          <p:nvPr/>
        </p:nvSpPr>
        <p:spPr>
          <a:xfrm>
            <a:off x="3627425" y="2792578"/>
            <a:ext cx="3019349" cy="83850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27425" y="2792578"/>
            <a:ext cx="38405" cy="83850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4049878"/>
            <a:ext cx="6191402" cy="1772107"/>
          </a:xfrm>
          <a:prstGeom prst="roundRect">
            <a:avLst>
              <a:gd name="adj" fmla="val 332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5331866"/>
            <a:ext cx="819302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583741" y="5331866"/>
            <a:ext cx="580644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40280" y="5331866"/>
            <a:ext cx="828446" cy="247802"/>
          </a:xfrm>
          <a:prstGeom prst="roundRect">
            <a:avLst>
              <a:gd name="adj" fmla="val 5677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3095" y="263347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219810" y="254203"/>
            <a:ext cx="1215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03. Dense Vector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63601"/>
            <a:ext cx="41632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 (Dense Vector)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1330452"/>
            <a:ext cx="587227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벡터의 차원을 줄이고, 모든 요소를 실수값으로 채워 단어의 의미를 응축하여 표현한 임베딩(Embedding) 방식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4205" y="3123590"/>
            <a:ext cx="133502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47902" y="2944368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일반화 (Generalization)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47902" y="3163824"/>
            <a:ext cx="22768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비슷한 의미의 단어는 벡터 공간에서 가깝게 위치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3894430" y="3123590"/>
            <a:ext cx="114300" cy="1335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198925" y="2944368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유사도 연산 용이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4198925" y="3163824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코사인 유사도 등을 통해 단어 간 관계 추론 가능</a:t>
            </a:r>
            <a:endParaRPr lang="en-US" sz="9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-1507" r="-1507" t="0" b="0"/>
          <a:stretch/>
        </p:blipFill>
        <p:spPr>
          <a:xfrm>
            <a:off x="694944" y="4323283"/>
            <a:ext cx="171907" cy="1335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42746" y="4287622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 Embedding 예시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748479" y="4315968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Dimension Size: 50~1024 (Low)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694944" y="455462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단어: "사과(Apple)"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80898" y="5369357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Word2Vec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669694" y="5369357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GloVe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2326234" y="5369357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BERT/GPT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94944" y="4783226"/>
            <a:ext cx="5715000" cy="400507"/>
          </a:xfrm>
          <a:prstGeom prst="roundRect">
            <a:avLst>
              <a:gd name="adj" fmla="val 32616"/>
            </a:avLst>
          </a:prstGeom>
          <a:solidFill>
            <a:srgbClr val="1F2937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838505" y="4897526"/>
            <a:ext cx="421812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[0.12, -0.45, 0.88, 0.03, -0.19, 0.67, ..., -0.32]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223199" y="444398"/>
            <a:ext cx="2857500" cy="2857500"/>
          </a:xfrm>
          <a:prstGeom prst="roundRect">
            <a:avLst>
              <a:gd name="adj" fmla="val 12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337499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39" name="Shape 32"/>
          <p:cNvSpPr/>
          <p:nvPr/>
        </p:nvSpPr>
        <p:spPr>
          <a:xfrm>
            <a:off x="8601761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40" name="Shape 33"/>
          <p:cNvSpPr/>
          <p:nvPr/>
        </p:nvSpPr>
        <p:spPr>
          <a:xfrm>
            <a:off x="8866937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41" name="Shape 34"/>
          <p:cNvSpPr/>
          <p:nvPr/>
        </p:nvSpPr>
        <p:spPr>
          <a:xfrm>
            <a:off x="9131198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42" name="Shape 35"/>
          <p:cNvSpPr/>
          <p:nvPr/>
        </p:nvSpPr>
        <p:spPr>
          <a:xfrm>
            <a:off x="9396374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43" name="Shape 36"/>
          <p:cNvSpPr/>
          <p:nvPr/>
        </p:nvSpPr>
        <p:spPr>
          <a:xfrm>
            <a:off x="9661550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44" name="Shape 37"/>
          <p:cNvSpPr/>
          <p:nvPr/>
        </p:nvSpPr>
        <p:spPr>
          <a:xfrm>
            <a:off x="9925812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45" name="Shape 38"/>
          <p:cNvSpPr/>
          <p:nvPr/>
        </p:nvSpPr>
        <p:spPr>
          <a:xfrm>
            <a:off x="10190988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46" name="Shape 39"/>
          <p:cNvSpPr/>
          <p:nvPr/>
        </p:nvSpPr>
        <p:spPr>
          <a:xfrm>
            <a:off x="10455250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47" name="Shape 40"/>
          <p:cNvSpPr/>
          <p:nvPr/>
        </p:nvSpPr>
        <p:spPr>
          <a:xfrm>
            <a:off x="10720426" y="55869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48" name="Shape 41"/>
          <p:cNvSpPr/>
          <p:nvPr/>
        </p:nvSpPr>
        <p:spPr>
          <a:xfrm>
            <a:off x="8337499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49" name="Shape 42"/>
          <p:cNvSpPr/>
          <p:nvPr/>
        </p:nvSpPr>
        <p:spPr>
          <a:xfrm>
            <a:off x="8601761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50" name="Shape 43"/>
          <p:cNvSpPr/>
          <p:nvPr/>
        </p:nvSpPr>
        <p:spPr>
          <a:xfrm>
            <a:off x="8866937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51" name="Shape 44"/>
          <p:cNvSpPr/>
          <p:nvPr/>
        </p:nvSpPr>
        <p:spPr>
          <a:xfrm>
            <a:off x="9131198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52" name="Shape 45"/>
          <p:cNvSpPr/>
          <p:nvPr/>
        </p:nvSpPr>
        <p:spPr>
          <a:xfrm>
            <a:off x="9396374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53" name="Shape 46"/>
          <p:cNvSpPr/>
          <p:nvPr/>
        </p:nvSpPr>
        <p:spPr>
          <a:xfrm>
            <a:off x="9661550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54" name="Shape 47"/>
          <p:cNvSpPr/>
          <p:nvPr/>
        </p:nvSpPr>
        <p:spPr>
          <a:xfrm>
            <a:off x="9925812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55" name="Shape 48"/>
          <p:cNvSpPr/>
          <p:nvPr/>
        </p:nvSpPr>
        <p:spPr>
          <a:xfrm>
            <a:off x="10190988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56" name="Shape 49"/>
          <p:cNvSpPr/>
          <p:nvPr/>
        </p:nvSpPr>
        <p:spPr>
          <a:xfrm>
            <a:off x="10455250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57" name="Shape 50"/>
          <p:cNvSpPr/>
          <p:nvPr/>
        </p:nvSpPr>
        <p:spPr>
          <a:xfrm>
            <a:off x="10720426" y="823874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58" name="Shape 51"/>
          <p:cNvSpPr/>
          <p:nvPr/>
        </p:nvSpPr>
        <p:spPr>
          <a:xfrm>
            <a:off x="8337499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59" name="Shape 52"/>
          <p:cNvSpPr/>
          <p:nvPr/>
        </p:nvSpPr>
        <p:spPr>
          <a:xfrm>
            <a:off x="8601761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60" name="Shape 53"/>
          <p:cNvSpPr/>
          <p:nvPr/>
        </p:nvSpPr>
        <p:spPr>
          <a:xfrm>
            <a:off x="8866937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61" name="Shape 54"/>
          <p:cNvSpPr/>
          <p:nvPr/>
        </p:nvSpPr>
        <p:spPr>
          <a:xfrm>
            <a:off x="9131198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62" name="Shape 55"/>
          <p:cNvSpPr/>
          <p:nvPr/>
        </p:nvSpPr>
        <p:spPr>
          <a:xfrm>
            <a:off x="9396374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63" name="Shape 56"/>
          <p:cNvSpPr/>
          <p:nvPr/>
        </p:nvSpPr>
        <p:spPr>
          <a:xfrm>
            <a:off x="9661550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64" name="Shape 57"/>
          <p:cNvSpPr/>
          <p:nvPr/>
        </p:nvSpPr>
        <p:spPr>
          <a:xfrm>
            <a:off x="9925812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65" name="Shape 58"/>
          <p:cNvSpPr/>
          <p:nvPr/>
        </p:nvSpPr>
        <p:spPr>
          <a:xfrm>
            <a:off x="10190988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66" name="Shape 59"/>
          <p:cNvSpPr/>
          <p:nvPr/>
        </p:nvSpPr>
        <p:spPr>
          <a:xfrm>
            <a:off x="10455250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67" name="Shape 60"/>
          <p:cNvSpPr/>
          <p:nvPr/>
        </p:nvSpPr>
        <p:spPr>
          <a:xfrm>
            <a:off x="10720426" y="10890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68" name="Shape 61"/>
          <p:cNvSpPr/>
          <p:nvPr/>
        </p:nvSpPr>
        <p:spPr>
          <a:xfrm>
            <a:off x="8337499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69" name="Shape 62"/>
          <p:cNvSpPr/>
          <p:nvPr/>
        </p:nvSpPr>
        <p:spPr>
          <a:xfrm>
            <a:off x="8601761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70" name="Shape 63"/>
          <p:cNvSpPr/>
          <p:nvPr/>
        </p:nvSpPr>
        <p:spPr>
          <a:xfrm>
            <a:off x="8866937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71" name="Shape 64"/>
          <p:cNvSpPr/>
          <p:nvPr/>
        </p:nvSpPr>
        <p:spPr>
          <a:xfrm>
            <a:off x="9131198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72" name="Shape 65"/>
          <p:cNvSpPr/>
          <p:nvPr/>
        </p:nvSpPr>
        <p:spPr>
          <a:xfrm>
            <a:off x="9396374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73" name="Shape 66"/>
          <p:cNvSpPr/>
          <p:nvPr/>
        </p:nvSpPr>
        <p:spPr>
          <a:xfrm>
            <a:off x="9661550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74" name="Shape 67"/>
          <p:cNvSpPr/>
          <p:nvPr/>
        </p:nvSpPr>
        <p:spPr>
          <a:xfrm>
            <a:off x="9925812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75" name="Shape 68"/>
          <p:cNvSpPr/>
          <p:nvPr/>
        </p:nvSpPr>
        <p:spPr>
          <a:xfrm>
            <a:off x="10190988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76" name="Shape 69"/>
          <p:cNvSpPr/>
          <p:nvPr/>
        </p:nvSpPr>
        <p:spPr>
          <a:xfrm>
            <a:off x="10455250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77" name="Shape 70"/>
          <p:cNvSpPr/>
          <p:nvPr/>
        </p:nvSpPr>
        <p:spPr>
          <a:xfrm>
            <a:off x="10720426" y="1353312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78" name="Shape 71"/>
          <p:cNvSpPr/>
          <p:nvPr/>
        </p:nvSpPr>
        <p:spPr>
          <a:xfrm>
            <a:off x="8337499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79" name="Shape 72"/>
          <p:cNvSpPr/>
          <p:nvPr/>
        </p:nvSpPr>
        <p:spPr>
          <a:xfrm>
            <a:off x="8601761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80" name="Shape 73"/>
          <p:cNvSpPr/>
          <p:nvPr/>
        </p:nvSpPr>
        <p:spPr>
          <a:xfrm>
            <a:off x="8866937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81" name="Shape 74"/>
          <p:cNvSpPr/>
          <p:nvPr/>
        </p:nvSpPr>
        <p:spPr>
          <a:xfrm>
            <a:off x="9131198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82" name="Shape 75"/>
          <p:cNvSpPr/>
          <p:nvPr/>
        </p:nvSpPr>
        <p:spPr>
          <a:xfrm>
            <a:off x="9396374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83" name="Shape 76"/>
          <p:cNvSpPr/>
          <p:nvPr/>
        </p:nvSpPr>
        <p:spPr>
          <a:xfrm>
            <a:off x="9661550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84" name="Shape 77"/>
          <p:cNvSpPr/>
          <p:nvPr/>
        </p:nvSpPr>
        <p:spPr>
          <a:xfrm>
            <a:off x="9925812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85" name="Shape 78"/>
          <p:cNvSpPr/>
          <p:nvPr/>
        </p:nvSpPr>
        <p:spPr>
          <a:xfrm>
            <a:off x="10190988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86" name="Shape 79"/>
          <p:cNvSpPr/>
          <p:nvPr/>
        </p:nvSpPr>
        <p:spPr>
          <a:xfrm>
            <a:off x="10455250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87" name="Shape 80"/>
          <p:cNvSpPr/>
          <p:nvPr/>
        </p:nvSpPr>
        <p:spPr>
          <a:xfrm>
            <a:off x="10720426" y="1618488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88" name="Shape 81"/>
          <p:cNvSpPr/>
          <p:nvPr/>
        </p:nvSpPr>
        <p:spPr>
          <a:xfrm>
            <a:off x="8337499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89" name="Shape 82"/>
          <p:cNvSpPr/>
          <p:nvPr/>
        </p:nvSpPr>
        <p:spPr>
          <a:xfrm>
            <a:off x="8601761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90" name="Shape 83"/>
          <p:cNvSpPr/>
          <p:nvPr/>
        </p:nvSpPr>
        <p:spPr>
          <a:xfrm>
            <a:off x="8866937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91" name="Shape 84"/>
          <p:cNvSpPr/>
          <p:nvPr/>
        </p:nvSpPr>
        <p:spPr>
          <a:xfrm>
            <a:off x="9131198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92" name="Shape 85"/>
          <p:cNvSpPr/>
          <p:nvPr/>
        </p:nvSpPr>
        <p:spPr>
          <a:xfrm>
            <a:off x="9396374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93" name="Shape 86"/>
          <p:cNvSpPr/>
          <p:nvPr/>
        </p:nvSpPr>
        <p:spPr>
          <a:xfrm>
            <a:off x="9661550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94" name="Shape 87"/>
          <p:cNvSpPr/>
          <p:nvPr/>
        </p:nvSpPr>
        <p:spPr>
          <a:xfrm>
            <a:off x="9925812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95" name="Shape 88"/>
          <p:cNvSpPr/>
          <p:nvPr/>
        </p:nvSpPr>
        <p:spPr>
          <a:xfrm>
            <a:off x="10190988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96" name="Shape 89"/>
          <p:cNvSpPr/>
          <p:nvPr/>
        </p:nvSpPr>
        <p:spPr>
          <a:xfrm>
            <a:off x="10455250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97" name="Shape 90"/>
          <p:cNvSpPr/>
          <p:nvPr/>
        </p:nvSpPr>
        <p:spPr>
          <a:xfrm>
            <a:off x="10720426" y="1882750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98" name="Shape 91"/>
          <p:cNvSpPr/>
          <p:nvPr/>
        </p:nvSpPr>
        <p:spPr>
          <a:xfrm>
            <a:off x="8337499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99" name="Shape 92"/>
          <p:cNvSpPr/>
          <p:nvPr/>
        </p:nvSpPr>
        <p:spPr>
          <a:xfrm>
            <a:off x="8601761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00" name="Shape 93"/>
          <p:cNvSpPr/>
          <p:nvPr/>
        </p:nvSpPr>
        <p:spPr>
          <a:xfrm>
            <a:off x="8866937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01" name="Shape 94"/>
          <p:cNvSpPr/>
          <p:nvPr/>
        </p:nvSpPr>
        <p:spPr>
          <a:xfrm>
            <a:off x="9131198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02" name="Shape 95"/>
          <p:cNvSpPr/>
          <p:nvPr/>
        </p:nvSpPr>
        <p:spPr>
          <a:xfrm>
            <a:off x="9396374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03" name="Shape 96"/>
          <p:cNvSpPr/>
          <p:nvPr/>
        </p:nvSpPr>
        <p:spPr>
          <a:xfrm>
            <a:off x="9661550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04" name="Shape 97"/>
          <p:cNvSpPr/>
          <p:nvPr/>
        </p:nvSpPr>
        <p:spPr>
          <a:xfrm>
            <a:off x="9925812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05" name="Shape 98"/>
          <p:cNvSpPr/>
          <p:nvPr/>
        </p:nvSpPr>
        <p:spPr>
          <a:xfrm>
            <a:off x="10190988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06" name="Shape 99"/>
          <p:cNvSpPr/>
          <p:nvPr/>
        </p:nvSpPr>
        <p:spPr>
          <a:xfrm>
            <a:off x="10455250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07" name="Shape 100"/>
          <p:cNvSpPr/>
          <p:nvPr/>
        </p:nvSpPr>
        <p:spPr>
          <a:xfrm>
            <a:off x="10720426" y="2147926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08" name="Shape 101"/>
          <p:cNvSpPr/>
          <p:nvPr/>
        </p:nvSpPr>
        <p:spPr>
          <a:xfrm>
            <a:off x="8337499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09" name="Shape 102"/>
          <p:cNvSpPr/>
          <p:nvPr/>
        </p:nvSpPr>
        <p:spPr>
          <a:xfrm>
            <a:off x="8601761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10" name="Shape 103"/>
          <p:cNvSpPr/>
          <p:nvPr/>
        </p:nvSpPr>
        <p:spPr>
          <a:xfrm>
            <a:off x="8866937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11" name="Shape 104"/>
          <p:cNvSpPr/>
          <p:nvPr/>
        </p:nvSpPr>
        <p:spPr>
          <a:xfrm>
            <a:off x="9131198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12" name="Shape 105"/>
          <p:cNvSpPr/>
          <p:nvPr/>
        </p:nvSpPr>
        <p:spPr>
          <a:xfrm>
            <a:off x="9396374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13" name="Shape 106"/>
          <p:cNvSpPr/>
          <p:nvPr/>
        </p:nvSpPr>
        <p:spPr>
          <a:xfrm>
            <a:off x="9661550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14" name="Shape 107"/>
          <p:cNvSpPr/>
          <p:nvPr/>
        </p:nvSpPr>
        <p:spPr>
          <a:xfrm>
            <a:off x="9925812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15" name="Shape 108"/>
          <p:cNvSpPr/>
          <p:nvPr/>
        </p:nvSpPr>
        <p:spPr>
          <a:xfrm>
            <a:off x="10190988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16" name="Shape 109"/>
          <p:cNvSpPr/>
          <p:nvPr/>
        </p:nvSpPr>
        <p:spPr>
          <a:xfrm>
            <a:off x="10455250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17" name="Shape 110"/>
          <p:cNvSpPr/>
          <p:nvPr/>
        </p:nvSpPr>
        <p:spPr>
          <a:xfrm>
            <a:off x="10720426" y="2412187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18" name="Shape 111"/>
          <p:cNvSpPr/>
          <p:nvPr/>
        </p:nvSpPr>
        <p:spPr>
          <a:xfrm>
            <a:off x="8337499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19" name="Shape 112"/>
          <p:cNvSpPr/>
          <p:nvPr/>
        </p:nvSpPr>
        <p:spPr>
          <a:xfrm>
            <a:off x="8601761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20" name="Shape 113"/>
          <p:cNvSpPr/>
          <p:nvPr/>
        </p:nvSpPr>
        <p:spPr>
          <a:xfrm>
            <a:off x="8866937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21" name="Shape 114"/>
          <p:cNvSpPr/>
          <p:nvPr/>
        </p:nvSpPr>
        <p:spPr>
          <a:xfrm>
            <a:off x="9131198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22" name="Shape 115"/>
          <p:cNvSpPr/>
          <p:nvPr/>
        </p:nvSpPr>
        <p:spPr>
          <a:xfrm>
            <a:off x="9396374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23" name="Shape 116"/>
          <p:cNvSpPr/>
          <p:nvPr/>
        </p:nvSpPr>
        <p:spPr>
          <a:xfrm>
            <a:off x="9661550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24" name="Shape 117"/>
          <p:cNvSpPr/>
          <p:nvPr/>
        </p:nvSpPr>
        <p:spPr>
          <a:xfrm>
            <a:off x="9925812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25" name="Shape 118"/>
          <p:cNvSpPr/>
          <p:nvPr/>
        </p:nvSpPr>
        <p:spPr>
          <a:xfrm>
            <a:off x="10190988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26" name="Shape 119"/>
          <p:cNvSpPr/>
          <p:nvPr/>
        </p:nvSpPr>
        <p:spPr>
          <a:xfrm>
            <a:off x="10455250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27" name="Shape 120"/>
          <p:cNvSpPr/>
          <p:nvPr/>
        </p:nvSpPr>
        <p:spPr>
          <a:xfrm>
            <a:off x="10720426" y="2677363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28" name="Shape 121"/>
          <p:cNvSpPr/>
          <p:nvPr/>
        </p:nvSpPr>
        <p:spPr>
          <a:xfrm>
            <a:off x="8337499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29" name="Shape 122"/>
          <p:cNvSpPr/>
          <p:nvPr/>
        </p:nvSpPr>
        <p:spPr>
          <a:xfrm>
            <a:off x="8601761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sp>
        <p:nvSpPr>
          <p:cNvPr id="130" name="Shape 123"/>
          <p:cNvSpPr/>
          <p:nvPr/>
        </p:nvSpPr>
        <p:spPr>
          <a:xfrm>
            <a:off x="8866937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31" name="Shape 124"/>
          <p:cNvSpPr/>
          <p:nvPr/>
        </p:nvSpPr>
        <p:spPr>
          <a:xfrm>
            <a:off x="9131198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32" name="Shape 125"/>
          <p:cNvSpPr/>
          <p:nvPr/>
        </p:nvSpPr>
        <p:spPr>
          <a:xfrm>
            <a:off x="9396374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33" name="Shape 126"/>
          <p:cNvSpPr/>
          <p:nvPr/>
        </p:nvSpPr>
        <p:spPr>
          <a:xfrm>
            <a:off x="9661550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9A3412"/>
          </a:solidFill>
          <a:ln/>
        </p:spPr>
      </p:sp>
      <p:sp>
        <p:nvSpPr>
          <p:cNvPr id="134" name="Shape 127"/>
          <p:cNvSpPr/>
          <p:nvPr/>
        </p:nvSpPr>
        <p:spPr>
          <a:xfrm>
            <a:off x="9925812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FF7ED"/>
          </a:solidFill>
          <a:ln/>
        </p:spPr>
      </p:sp>
      <p:sp>
        <p:nvSpPr>
          <p:cNvPr id="135" name="Shape 128"/>
          <p:cNvSpPr/>
          <p:nvPr/>
        </p:nvSpPr>
        <p:spPr>
          <a:xfrm>
            <a:off x="10190988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B923C"/>
          </a:solidFill>
          <a:ln/>
        </p:spPr>
      </p:sp>
      <p:sp>
        <p:nvSpPr>
          <p:cNvPr id="136" name="Shape 129"/>
          <p:cNvSpPr/>
          <p:nvPr/>
        </p:nvSpPr>
        <p:spPr>
          <a:xfrm>
            <a:off x="10455250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EA580C"/>
          </a:solidFill>
          <a:ln/>
        </p:spPr>
      </p:sp>
      <p:sp>
        <p:nvSpPr>
          <p:cNvPr id="137" name="Shape 130"/>
          <p:cNvSpPr/>
          <p:nvPr/>
        </p:nvSpPr>
        <p:spPr>
          <a:xfrm>
            <a:off x="10720426" y="2942539"/>
            <a:ext cx="247802" cy="247802"/>
          </a:xfrm>
          <a:prstGeom prst="roundRect">
            <a:avLst>
              <a:gd name="adj" fmla="val 28385"/>
            </a:avLst>
          </a:prstGeom>
          <a:solidFill>
            <a:srgbClr val="FED7AA"/>
          </a:solidFill>
          <a:ln/>
        </p:spPr>
      </p:sp>
      <p:pic>
        <p:nvPicPr>
          <p:cNvPr id="1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52714" y="123444"/>
            <a:ext cx="171907" cy="171907"/>
          </a:xfrm>
          <a:prstGeom prst="rect">
            <a:avLst/>
          </a:prstGeom>
        </p:spPr>
      </p:pic>
      <p:sp>
        <p:nvSpPr>
          <p:cNvPr id="139" name="Text 131"/>
          <p:cNvSpPr txBox="1"/>
          <p:nvPr/>
        </p:nvSpPr>
        <p:spPr>
          <a:xfrm>
            <a:off x="8700516" y="73152"/>
            <a:ext cx="22814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 행렬 시각화 (Heatmap)</a:t>
            </a:r>
            <a:endParaRPr lang="en-US" sz="1300" dirty="0"/>
          </a:p>
        </p:txBody>
      </p:sp>
      <p:pic>
        <p:nvPicPr>
          <p:cNvPr id="14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8839505" y="3666744"/>
            <a:ext cx="190195" cy="171907"/>
          </a:xfrm>
          <a:prstGeom prst="rect">
            <a:avLst/>
          </a:prstGeom>
        </p:spPr>
      </p:pic>
      <p:sp>
        <p:nvSpPr>
          <p:cNvPr id="141" name="Text 132"/>
          <p:cNvSpPr txBox="1"/>
          <p:nvPr/>
        </p:nvSpPr>
        <p:spPr>
          <a:xfrm>
            <a:off x="9106510" y="3616452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공간 군집화</a:t>
            </a:r>
            <a:endParaRPr lang="en-US" sz="1300" dirty="0"/>
          </a:p>
        </p:txBody>
      </p:sp>
      <p:sp>
        <p:nvSpPr>
          <p:cNvPr id="142" name="Text 133"/>
          <p:cNvSpPr txBox="1"/>
          <p:nvPr/>
        </p:nvSpPr>
        <p:spPr>
          <a:xfrm>
            <a:off x="8545982" y="5845759"/>
            <a:ext cx="2305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*의미론적 유사성에 따라 벡터 공간상에 배치됨</a:t>
            </a:r>
            <a:endParaRPr lang="en-US" sz="900" dirty="0"/>
          </a:p>
        </p:txBody>
      </p:sp>
      <p:sp>
        <p:nvSpPr>
          <p:cNvPr id="143" name="Shape 134"/>
          <p:cNvSpPr/>
          <p:nvPr/>
        </p:nvSpPr>
        <p:spPr>
          <a:xfrm>
            <a:off x="8128102" y="3950208"/>
            <a:ext cx="3047695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44" name="Image 7" descr="preencoded.png">    </p:cNvPr>
          <p:cNvPicPr>
            <a:picLocks noChangeAspect="1"/>
          </p:cNvPicPr>
          <p:nvPr/>
        </p:nvPicPr>
        <p:blipFill>
          <a:blip r:embed="rId8"/>
          <a:srcRect l="-12" r="-12" t="0" b="0"/>
          <a:stretch/>
        </p:blipFill>
        <p:spPr>
          <a:xfrm>
            <a:off x="8137246" y="3959352"/>
            <a:ext cx="3029407" cy="1809598"/>
          </a:xfrm>
          <a:prstGeom prst="rect">
            <a:avLst/>
          </a:prstGeom>
        </p:spPr>
      </p:pic>
      <p:pic>
        <p:nvPicPr>
          <p:cNvPr id="145" name="Image 8" descr="preencoded.png">    </p:cNvPr>
          <p:cNvPicPr>
            <a:picLocks noChangeAspect="1"/>
          </p:cNvPicPr>
          <p:nvPr/>
        </p:nvPicPr>
        <p:blipFill>
          <a:blip r:embed="rId9"/>
          <a:srcRect l="-12" r="-12" t="0" b="0"/>
          <a:stretch/>
        </p:blipFill>
        <p:spPr>
          <a:xfrm>
            <a:off x="8137246" y="3959352"/>
            <a:ext cx="3029407" cy="1809598"/>
          </a:xfrm>
          <a:prstGeom prst="rect">
            <a:avLst/>
          </a:prstGeom>
        </p:spPr>
      </p:pic>
      <p:sp>
        <p:nvSpPr>
          <p:cNvPr id="146" name="Shape 135"/>
          <p:cNvSpPr/>
          <p:nvPr/>
        </p:nvSpPr>
        <p:spPr>
          <a:xfrm>
            <a:off x="0" y="5994806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7" name="Shape 136"/>
          <p:cNvSpPr/>
          <p:nvPr/>
        </p:nvSpPr>
        <p:spPr>
          <a:xfrm>
            <a:off x="0" y="599480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8" name="Shape 137"/>
          <p:cNvSpPr/>
          <p:nvPr/>
        </p:nvSpPr>
        <p:spPr>
          <a:xfrm>
            <a:off x="1218895" y="6233465"/>
            <a:ext cx="1904695" cy="400507"/>
          </a:xfrm>
          <a:prstGeom prst="rect">
            <a:avLst/>
          </a:prstGeom>
          <a:solidFill>
            <a:srgbClr val="9A3412"/>
          </a:solidFill>
          <a:ln/>
        </p:spPr>
      </p:sp>
      <p:pic>
        <p:nvPicPr>
          <p:cNvPr id="149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1921154" y="6389827"/>
            <a:ext cx="105156" cy="114300"/>
          </a:xfrm>
          <a:prstGeom prst="rect">
            <a:avLst/>
          </a:prstGeom>
        </p:spPr>
      </p:pic>
      <p:sp>
        <p:nvSpPr>
          <p:cNvPr id="150" name="Text 138"/>
          <p:cNvSpPr txBox="1"/>
          <p:nvPr/>
        </p:nvSpPr>
        <p:spPr>
          <a:xfrm>
            <a:off x="2102206" y="6328562"/>
            <a:ext cx="4270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</a:t>
            </a:r>
            <a:endParaRPr lang="en-US" sz="1000" dirty="0"/>
          </a:p>
        </p:txBody>
      </p:sp>
      <p:sp>
        <p:nvSpPr>
          <p:cNvPr id="151" name="Shape 139"/>
          <p:cNvSpPr/>
          <p:nvPr/>
        </p:nvSpPr>
        <p:spPr>
          <a:xfrm>
            <a:off x="3834994" y="6233465"/>
            <a:ext cx="1904695" cy="400507"/>
          </a:xfrm>
          <a:prstGeom prst="rect">
            <a:avLst/>
          </a:prstGeom>
          <a:solidFill>
            <a:srgbClr val="9A3412"/>
          </a:solidFill>
          <a:ln/>
        </p:spPr>
      </p:sp>
      <p:pic>
        <p:nvPicPr>
          <p:cNvPr id="152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4444898" y="6389827"/>
            <a:ext cx="105156" cy="114300"/>
          </a:xfrm>
          <a:prstGeom prst="rect">
            <a:avLst/>
          </a:prstGeom>
        </p:spPr>
      </p:pic>
      <p:sp>
        <p:nvSpPr>
          <p:cNvPr id="153" name="Text 140"/>
          <p:cNvSpPr txBox="1"/>
          <p:nvPr/>
        </p:nvSpPr>
        <p:spPr>
          <a:xfrm>
            <a:off x="4625950" y="6328562"/>
            <a:ext cx="608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</a:t>
            </a:r>
            <a:endParaRPr lang="en-US" sz="1000" dirty="0"/>
          </a:p>
        </p:txBody>
      </p:sp>
      <p:sp>
        <p:nvSpPr>
          <p:cNvPr id="154" name="Shape 141"/>
          <p:cNvSpPr/>
          <p:nvPr/>
        </p:nvSpPr>
        <p:spPr>
          <a:xfrm>
            <a:off x="6451092" y="6233465"/>
            <a:ext cx="1904695" cy="400507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5" name="Text 142"/>
          <p:cNvSpPr txBox="1"/>
          <p:nvPr/>
        </p:nvSpPr>
        <p:spPr>
          <a:xfrm>
            <a:off x="6783019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56" name="Text 143"/>
          <p:cNvSpPr txBox="1"/>
          <p:nvPr/>
        </p:nvSpPr>
        <p:spPr>
          <a:xfrm>
            <a:off x="7020763" y="6328562"/>
            <a:ext cx="11128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밀집벡터(Dense)</a:t>
            </a:r>
            <a:endParaRPr lang="en-US" sz="1000" dirty="0"/>
          </a:p>
        </p:txBody>
      </p:sp>
      <p:sp>
        <p:nvSpPr>
          <p:cNvPr id="157" name="Shape 144"/>
          <p:cNvSpPr/>
          <p:nvPr/>
        </p:nvSpPr>
        <p:spPr>
          <a:xfrm>
            <a:off x="9067190" y="6233465"/>
            <a:ext cx="1904695" cy="400507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8" name="Text 145"/>
          <p:cNvSpPr txBox="1"/>
          <p:nvPr/>
        </p:nvSpPr>
        <p:spPr>
          <a:xfrm>
            <a:off x="9782251" y="6328562"/>
            <a:ext cx="817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및 활용</a:t>
            </a:r>
            <a:endParaRPr lang="en-US" sz="1000" dirty="0"/>
          </a:p>
        </p:txBody>
      </p:sp>
      <p:sp>
        <p:nvSpPr>
          <p:cNvPr id="159" name="Text 146"/>
          <p:cNvSpPr txBox="1"/>
          <p:nvPr/>
        </p:nvSpPr>
        <p:spPr>
          <a:xfrm>
            <a:off x="9549994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28700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04495"/>
            <a:ext cx="914400" cy="190195"/>
          </a:xfrm>
          <a:prstGeom prst="roundRect">
            <a:avLst>
              <a:gd name="adj" fmla="val 96154"/>
            </a:avLst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3095" y="314554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304495"/>
            <a:ext cx="1881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04. Summary &amp; Application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95605"/>
            <a:ext cx="39291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 vs 밀집: 비교와 활용 전략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86546" y="533095"/>
            <a:ext cx="3258007" cy="342900"/>
          </a:xfrm>
          <a:prstGeom prst="roundRect">
            <a:avLst>
              <a:gd name="adj" fmla="val 59259"/>
            </a:avLst>
          </a:prstGeom>
          <a:solidFill>
            <a:srgbClr val="F3F4F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0" b="-100"/>
          <a:stretch/>
        </p:blipFill>
        <p:spPr>
          <a:xfrm>
            <a:off x="8638337" y="629107"/>
            <a:ext cx="114300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866937" y="609905"/>
            <a:ext cx="2824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목적에 따른 적절한 표현 방식 선택이 성능의 핵심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190549"/>
            <a:ext cx="6409944" cy="243870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" y="1200607"/>
            <a:ext cx="6391656" cy="39044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" y="1581912"/>
            <a:ext cx="6391656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619049" y="1324051"/>
            <a:ext cx="19019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86054" y="1276502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비교 분석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970118" y="1352398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84418" y="1314907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371539" y="1352398"/>
            <a:ext cx="75895" cy="75895"/>
          </a:xfrm>
          <a:prstGeom prst="roundRect">
            <a:avLst>
              <a:gd name="adj" fmla="val 120482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85839" y="1314907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" y="1591056"/>
            <a:ext cx="6391656" cy="42885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18"/>
          <p:cNvSpPr/>
          <p:nvPr/>
        </p:nvSpPr>
        <p:spPr>
          <a:xfrm>
            <a:off x="466344" y="2010766"/>
            <a:ext cx="63916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19049" y="1705356"/>
            <a:ext cx="5779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2214677" y="1705356"/>
            <a:ext cx="1130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 (SPARSE)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531766" y="1705356"/>
            <a:ext cx="1072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 (DENSE)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6344" y="2514600"/>
            <a:ext cx="63916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19049" y="2171700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차원 (Dimension)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2214677" y="2133295"/>
            <a:ext cx="2171700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2290572" y="2171700"/>
            <a:ext cx="12911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고차원 (수만~수백만)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4607662" y="2171700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저차원 (수십~수천)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" y="3095244"/>
            <a:ext cx="63916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19049" y="2714854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효율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2214677" y="2638044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0값 압축 시 효율적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2214677" y="2819095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비압축 시 낭비 심함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4531766" y="26380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 크기로 예측 가능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4531766" y="2819095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값이 실수 (Float)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66344" y="3525012"/>
            <a:ext cx="6391656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619049" y="321960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가능성</a:t>
            </a:r>
            <a:endParaRPr lang="en-US" sz="10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14677" y="3247949"/>
            <a:ext cx="133502" cy="133502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2424074" y="3219602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(단어 매칭)</a:t>
            </a:r>
            <a:endParaRPr lang="en-US" sz="10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31766" y="3247949"/>
            <a:ext cx="133502" cy="13350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4741164" y="3219602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 (난해함)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19049" y="364845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매칭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2214677" y="3648456"/>
            <a:ext cx="1215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일치 (Exact)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4531766" y="3648456"/>
            <a:ext cx="1595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유사성 (Semantic)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162495" y="1190549"/>
            <a:ext cx="4572000" cy="1352398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7325258" y="1380744"/>
            <a:ext cx="114300" cy="133502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515454" y="1352398"/>
            <a:ext cx="1662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 선택 (Best for...)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7325258" y="1657807"/>
            <a:ext cx="4248302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10298" y="1742846"/>
            <a:ext cx="152705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7677302" y="1733702"/>
            <a:ext cx="1800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키워드 매칭이 필수적인 검색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7325258" y="2057400"/>
            <a:ext cx="4248302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10298" y="2143354"/>
            <a:ext cx="152705" cy="15270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7677302" y="2133295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데이터가 부족하거나 리소스 제한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162495" y="2657246"/>
            <a:ext cx="4572000" cy="1352398"/>
          </a:xfrm>
          <a:prstGeom prst="roundRect">
            <a:avLst>
              <a:gd name="adj" fmla="val 57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7325258" y="2848356"/>
            <a:ext cx="114300" cy="1335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515454" y="2819095"/>
            <a:ext cx="1662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 선택 (Best for...)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7325258" y="3124505"/>
            <a:ext cx="4248302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10298" y="3209544"/>
            <a:ext cx="152705" cy="152705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7677302" y="3200400"/>
            <a:ext cx="1733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문맥과 의미 파악이 중요한 챗봇/AI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7325258" y="3524098"/>
            <a:ext cx="4248302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10298" y="3610051"/>
            <a:ext cx="152705" cy="152705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7677302" y="3600907"/>
            <a:ext cx="1858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이미지, 음성 등 멀티모달 데이터 처리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57200" y="3857854"/>
            <a:ext cx="11277295" cy="2486254"/>
          </a:xfrm>
          <a:prstGeom prst="roundRect">
            <a:avLst>
              <a:gd name="adj" fmla="val 16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619049" y="4009644"/>
            <a:ext cx="2171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TRANSFORMATION PIPELINE</a:t>
            </a:r>
            <a:endParaRPr lang="en-US" sz="900" dirty="0"/>
          </a:p>
        </p:txBody>
      </p:sp>
      <p:sp>
        <p:nvSpPr>
          <p:cNvPr id="66" name="Shape 54"/>
          <p:cNvSpPr/>
          <p:nvPr/>
        </p:nvSpPr>
        <p:spPr>
          <a:xfrm>
            <a:off x="4657954" y="6010351"/>
            <a:ext cx="2876702" cy="247802"/>
          </a:xfrm>
          <a:prstGeom prst="roundRect">
            <a:avLst>
              <a:gd name="adj" fmla="val 369004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82312" y="6077102"/>
            <a:ext cx="114300" cy="114300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4972507" y="6048756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최근에는 두 방식을 결합한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6225235" y="60487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 Search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7025335" y="6048756"/>
            <a:ext cx="476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대세!</a:t>
            </a:r>
            <a:endParaRPr lang="en-US" sz="900" dirty="0"/>
          </a:p>
        </p:txBody>
      </p:sp>
      <p:sp>
        <p:nvSpPr>
          <p:cNvPr id="71" name="Shape 58"/>
          <p:cNvSpPr/>
          <p:nvPr/>
        </p:nvSpPr>
        <p:spPr>
          <a:xfrm>
            <a:off x="923544" y="4576572"/>
            <a:ext cx="1524305" cy="1200607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1457554" y="473842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614830" y="4871923"/>
            <a:ext cx="142646" cy="190195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1375258" y="5272430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</a:t>
            </a:r>
            <a:endParaRPr lang="en-US" sz="1000" dirty="0"/>
          </a:p>
        </p:txBody>
      </p:sp>
      <p:sp>
        <p:nvSpPr>
          <p:cNvPr id="75" name="Text 61"/>
          <p:cNvSpPr txBox="1"/>
          <p:nvPr/>
        </p:nvSpPr>
        <p:spPr>
          <a:xfrm>
            <a:off x="1398118" y="5453482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/ Logs</a:t>
            </a:r>
            <a:endParaRPr lang="en-US" sz="900" dirty="0"/>
          </a:p>
        </p:txBody>
      </p:sp>
      <p:pic>
        <p:nvPicPr>
          <p:cNvPr id="76" name="Image 12" descr="preencoded.png">    </p:cNvPr>
          <p:cNvPicPr>
            <a:picLocks noChangeAspect="1"/>
          </p:cNvPicPr>
          <p:nvPr/>
        </p:nvPicPr>
        <p:blipFill>
          <a:blip r:embed="rId13"/>
          <a:srcRect l="-1082" r="-1082" t="0" b="0"/>
          <a:stretch/>
        </p:blipFill>
        <p:spPr>
          <a:xfrm>
            <a:off x="2581351" y="5086807"/>
            <a:ext cx="161849" cy="181051"/>
          </a:xfrm>
          <a:prstGeom prst="rect">
            <a:avLst/>
          </a:prstGeom>
        </p:spPr>
      </p:pic>
      <p:sp>
        <p:nvSpPr>
          <p:cNvPr id="77" name="Shape 62"/>
          <p:cNvSpPr/>
          <p:nvPr/>
        </p:nvSpPr>
        <p:spPr>
          <a:xfrm>
            <a:off x="2850185" y="4443070"/>
            <a:ext cx="1676095" cy="1466698"/>
          </a:xfrm>
          <a:prstGeom prst="roundRect">
            <a:avLst>
              <a:gd name="adj" fmla="val 323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8" name="Shape 63"/>
          <p:cNvSpPr/>
          <p:nvPr/>
        </p:nvSpPr>
        <p:spPr>
          <a:xfrm>
            <a:off x="2850185" y="4443070"/>
            <a:ext cx="1676095" cy="384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9" name="Shape 64"/>
          <p:cNvSpPr/>
          <p:nvPr/>
        </p:nvSpPr>
        <p:spPr>
          <a:xfrm>
            <a:off x="3460090" y="463417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/>
        </p:spPr>
      </p:sp>
      <p:pic>
        <p:nvPicPr>
          <p:cNvPr id="80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593592" y="4767682"/>
            <a:ext cx="190195" cy="190195"/>
          </a:xfrm>
          <a:prstGeom prst="rect">
            <a:avLst/>
          </a:prstGeom>
        </p:spPr>
      </p:pic>
      <p:sp>
        <p:nvSpPr>
          <p:cNvPr id="81" name="Shape 65"/>
          <p:cNvSpPr/>
          <p:nvPr/>
        </p:nvSpPr>
        <p:spPr>
          <a:xfrm>
            <a:off x="3002890" y="5586070"/>
            <a:ext cx="1371600" cy="171907"/>
          </a:xfrm>
          <a:prstGeom prst="roundRect">
            <a:avLst>
              <a:gd name="adj" fmla="val 118203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2" name="Text 66"/>
          <p:cNvSpPr txBox="1"/>
          <p:nvPr/>
        </p:nvSpPr>
        <p:spPr>
          <a:xfrm>
            <a:off x="3237890" y="516727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Sparse Vector</a:t>
            </a:r>
            <a:endParaRPr lang="en-US" sz="1000" dirty="0"/>
          </a:p>
        </p:txBody>
      </p:sp>
      <p:sp>
        <p:nvSpPr>
          <p:cNvPr id="83" name="Text 67"/>
          <p:cNvSpPr txBox="1"/>
          <p:nvPr/>
        </p:nvSpPr>
        <p:spPr>
          <a:xfrm>
            <a:off x="3242462" y="5348326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One-hot / TF-IDF</a:t>
            </a:r>
            <a:endParaRPr lang="en-US" sz="900" dirty="0"/>
          </a:p>
        </p:txBody>
      </p:sp>
      <p:sp>
        <p:nvSpPr>
          <p:cNvPr id="84" name="Text 68"/>
          <p:cNvSpPr txBox="1"/>
          <p:nvPr/>
        </p:nvSpPr>
        <p:spPr>
          <a:xfrm>
            <a:off x="3129991" y="5586070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Dimensionality: High</a:t>
            </a:r>
            <a:endParaRPr lang="en-US" sz="900" dirty="0"/>
          </a:p>
        </p:txBody>
      </p:sp>
      <p:pic>
        <p:nvPicPr>
          <p:cNvPr id="85" name="Image 14" descr="preencoded.png">    </p:cNvPr>
          <p:cNvPicPr>
            <a:picLocks noChangeAspect="1"/>
          </p:cNvPicPr>
          <p:nvPr/>
        </p:nvPicPr>
        <p:blipFill>
          <a:blip r:embed="rId15"/>
          <a:srcRect l="-1082" r="-1082" t="0" b="0"/>
          <a:stretch/>
        </p:blipFill>
        <p:spPr>
          <a:xfrm>
            <a:off x="4669841" y="5105095"/>
            <a:ext cx="161849" cy="181051"/>
          </a:xfrm>
          <a:prstGeom prst="rect">
            <a:avLst/>
          </a:prstGeom>
        </p:spPr>
      </p:pic>
      <p:sp>
        <p:nvSpPr>
          <p:cNvPr id="86" name="Shape 69"/>
          <p:cNvSpPr/>
          <p:nvPr/>
        </p:nvSpPr>
        <p:spPr>
          <a:xfrm>
            <a:off x="4928616" y="5005426"/>
            <a:ext cx="1733702" cy="342900"/>
          </a:xfrm>
          <a:prstGeom prst="roundRect">
            <a:avLst>
              <a:gd name="adj" fmla="val 266667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7" name="Text 70"/>
          <p:cNvSpPr txBox="1"/>
          <p:nvPr/>
        </p:nvSpPr>
        <p:spPr>
          <a:xfrm>
            <a:off x="5309921" y="5081321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Embedding Model</a:t>
            </a:r>
            <a:endParaRPr lang="en-US" sz="1000" dirty="0"/>
          </a:p>
        </p:txBody>
      </p:sp>
      <p:pic>
        <p:nvPicPr>
          <p:cNvPr id="8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059375" y="5078578"/>
            <a:ext cx="200254" cy="200254"/>
          </a:xfrm>
          <a:prstGeom prst="rect">
            <a:avLst/>
          </a:prstGeom>
        </p:spPr>
      </p:pic>
      <p:sp>
        <p:nvSpPr>
          <p:cNvPr id="89" name="Shape 71"/>
          <p:cNvSpPr/>
          <p:nvPr/>
        </p:nvSpPr>
        <p:spPr>
          <a:xfrm>
            <a:off x="4928616" y="5167274"/>
            <a:ext cx="1733702" cy="19202"/>
          </a:xfrm>
          <a:prstGeom prst="rect">
            <a:avLst/>
          </a:prstGeom>
          <a:solidFill>
            <a:srgbClr val="9CA3AF"/>
          </a:solidFill>
          <a:ln/>
        </p:spPr>
      </p:sp>
      <p:pic>
        <p:nvPicPr>
          <p:cNvPr id="90" name="Image 16" descr="preencoded.png">    </p:cNvPr>
          <p:cNvPicPr>
            <a:picLocks noChangeAspect="1"/>
          </p:cNvPicPr>
          <p:nvPr/>
        </p:nvPicPr>
        <p:blipFill>
          <a:blip r:embed="rId17"/>
          <a:srcRect l="-1082" r="-1082" t="0" b="0"/>
          <a:stretch/>
        </p:blipFill>
        <p:spPr>
          <a:xfrm>
            <a:off x="6872630" y="5086807"/>
            <a:ext cx="161849" cy="181051"/>
          </a:xfrm>
          <a:prstGeom prst="rect">
            <a:avLst/>
          </a:prstGeom>
        </p:spPr>
      </p:pic>
      <p:sp>
        <p:nvSpPr>
          <p:cNvPr id="91" name="Shape 72"/>
          <p:cNvSpPr/>
          <p:nvPr/>
        </p:nvSpPr>
        <p:spPr>
          <a:xfrm>
            <a:off x="7055510" y="4443070"/>
            <a:ext cx="1676095" cy="384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92" name="Image 17" descr="preencoded.png">    </p:cNvPr>
          <p:cNvPicPr>
            <a:picLocks noChangeAspect="1"/>
          </p:cNvPicPr>
          <p:nvPr/>
        </p:nvPicPr>
        <p:blipFill>
          <a:blip r:embed="rId18"/>
          <a:srcRect l="-1282" r="-1282" t="0" b="0"/>
          <a:stretch/>
        </p:blipFill>
        <p:spPr>
          <a:xfrm>
            <a:off x="7784287" y="4767682"/>
            <a:ext cx="219456" cy="190195"/>
          </a:xfrm>
          <a:prstGeom prst="rect">
            <a:avLst/>
          </a:prstGeom>
        </p:spPr>
      </p:pic>
      <p:sp>
        <p:nvSpPr>
          <p:cNvPr id="93" name="Shape 73"/>
          <p:cNvSpPr/>
          <p:nvPr/>
        </p:nvSpPr>
        <p:spPr>
          <a:xfrm>
            <a:off x="7208215" y="5586070"/>
            <a:ext cx="1371600" cy="171907"/>
          </a:xfrm>
          <a:prstGeom prst="roundRect">
            <a:avLst>
              <a:gd name="adj" fmla="val 1182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Text 74"/>
          <p:cNvSpPr txBox="1"/>
          <p:nvPr/>
        </p:nvSpPr>
        <p:spPr>
          <a:xfrm>
            <a:off x="7465162" y="5167274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Vector</a:t>
            </a:r>
            <a:endParaRPr lang="en-US" sz="1000" dirty="0"/>
          </a:p>
        </p:txBody>
      </p:sp>
      <p:sp>
        <p:nvSpPr>
          <p:cNvPr id="95" name="Text 75"/>
          <p:cNvSpPr txBox="1"/>
          <p:nvPr/>
        </p:nvSpPr>
        <p:spPr>
          <a:xfrm>
            <a:off x="7433158" y="5348326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Word2Vec / BERT</a:t>
            </a:r>
            <a:endParaRPr lang="en-US" sz="900" dirty="0"/>
          </a:p>
        </p:txBody>
      </p:sp>
      <p:sp>
        <p:nvSpPr>
          <p:cNvPr id="96" name="Text 76"/>
          <p:cNvSpPr txBox="1"/>
          <p:nvPr/>
        </p:nvSpPr>
        <p:spPr>
          <a:xfrm>
            <a:off x="7349947" y="5586070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Dimensionality: Low</a:t>
            </a:r>
            <a:endParaRPr lang="en-US" sz="900" dirty="0"/>
          </a:p>
        </p:txBody>
      </p:sp>
      <p:pic>
        <p:nvPicPr>
          <p:cNvPr id="97" name="Image 18" descr="preencoded.png">    </p:cNvPr>
          <p:cNvPicPr>
            <a:picLocks noChangeAspect="1"/>
          </p:cNvPicPr>
          <p:nvPr/>
        </p:nvPicPr>
        <p:blipFill>
          <a:blip r:embed="rId19"/>
          <a:srcRect l="-1082" r="-1082" t="0" b="0"/>
          <a:stretch/>
        </p:blipFill>
        <p:spPr>
          <a:xfrm>
            <a:off x="8875166" y="5105095"/>
            <a:ext cx="161849" cy="181051"/>
          </a:xfrm>
          <a:prstGeom prst="rect">
            <a:avLst/>
          </a:prstGeom>
        </p:spPr>
      </p:pic>
      <p:sp>
        <p:nvSpPr>
          <p:cNvPr id="98" name="Shape 77"/>
          <p:cNvSpPr/>
          <p:nvPr/>
        </p:nvSpPr>
        <p:spPr>
          <a:xfrm>
            <a:off x="9134856" y="4172407"/>
            <a:ext cx="2133295" cy="2009851"/>
          </a:xfrm>
          <a:prstGeom prst="roundRect">
            <a:avLst>
              <a:gd name="adj" fmla="val 17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99" name="Shape 78"/>
          <p:cNvSpPr/>
          <p:nvPr/>
        </p:nvSpPr>
        <p:spPr>
          <a:xfrm>
            <a:off x="9258300" y="4524451"/>
            <a:ext cx="18864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0" name="Text 79"/>
          <p:cNvSpPr txBox="1"/>
          <p:nvPr/>
        </p:nvSpPr>
        <p:spPr>
          <a:xfrm>
            <a:off x="9794138" y="4295851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Applications</a:t>
            </a:r>
            <a:endParaRPr lang="en-US" sz="1000" dirty="0"/>
          </a:p>
        </p:txBody>
      </p:sp>
      <p:pic>
        <p:nvPicPr>
          <p:cNvPr id="101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9634118" y="4619549"/>
            <a:ext cx="152705" cy="152705"/>
          </a:xfrm>
          <a:prstGeom prst="rect">
            <a:avLst/>
          </a:prstGeom>
        </p:spPr>
      </p:pic>
      <p:sp>
        <p:nvSpPr>
          <p:cNvPr id="102" name="Text 80"/>
          <p:cNvSpPr txBox="1"/>
          <p:nvPr/>
        </p:nvSpPr>
        <p:spPr>
          <a:xfrm>
            <a:off x="9374429" y="4839005"/>
            <a:ext cx="79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Search</a:t>
            </a:r>
            <a:endParaRPr lang="en-US" sz="1200" dirty="0"/>
          </a:p>
        </p:txBody>
      </p:sp>
      <p:pic>
        <p:nvPicPr>
          <p:cNvPr id="103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615270" y="4619549"/>
            <a:ext cx="152705" cy="152705"/>
          </a:xfrm>
          <a:prstGeom prst="rect">
            <a:avLst/>
          </a:prstGeom>
        </p:spPr>
      </p:pic>
      <p:sp>
        <p:nvSpPr>
          <p:cNvPr id="104" name="Text 81"/>
          <p:cNvSpPr txBox="1"/>
          <p:nvPr/>
        </p:nvSpPr>
        <p:spPr>
          <a:xfrm>
            <a:off x="10239451" y="4839005"/>
            <a:ext cx="1390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Recommendation</a:t>
            </a:r>
            <a:endParaRPr lang="en-US" sz="1200" dirty="0"/>
          </a:p>
        </p:txBody>
      </p:sp>
      <p:pic>
        <p:nvPicPr>
          <p:cNvPr id="105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80" b="-180"/>
          <a:stretch/>
        </p:blipFill>
        <p:spPr>
          <a:xfrm>
            <a:off x="9615830" y="5381244"/>
            <a:ext cx="190195" cy="152705"/>
          </a:xfrm>
          <a:prstGeom prst="rect">
            <a:avLst/>
          </a:prstGeom>
        </p:spPr>
      </p:pic>
      <p:sp>
        <p:nvSpPr>
          <p:cNvPr id="106" name="Text 82"/>
          <p:cNvSpPr txBox="1"/>
          <p:nvPr/>
        </p:nvSpPr>
        <p:spPr>
          <a:xfrm>
            <a:off x="9373514" y="5600700"/>
            <a:ext cx="7909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Chatbot / LLM</a:t>
            </a:r>
            <a:endParaRPr lang="en-US" sz="1200" dirty="0"/>
          </a:p>
        </p:txBody>
      </p:sp>
      <p:pic>
        <p:nvPicPr>
          <p:cNvPr id="107" name="Image 22" descr="preencoded.png">    </p:cNvPr>
          <p:cNvPicPr>
            <a:picLocks noChangeAspect="1"/>
          </p:cNvPicPr>
          <p:nvPr/>
        </p:nvPicPr>
        <p:blipFill>
          <a:blip r:embed="rId23"/>
          <a:srcRect l="-33" r="-33" t="0" b="0"/>
          <a:stretch/>
        </p:blipFill>
        <p:spPr>
          <a:xfrm>
            <a:off x="10606126" y="5381244"/>
            <a:ext cx="171907" cy="152705"/>
          </a:xfrm>
          <a:prstGeom prst="rect">
            <a:avLst/>
          </a:prstGeom>
        </p:spPr>
      </p:pic>
      <p:sp>
        <p:nvSpPr>
          <p:cNvPr id="108" name="Text 83"/>
          <p:cNvSpPr txBox="1"/>
          <p:nvPr/>
        </p:nvSpPr>
        <p:spPr>
          <a:xfrm>
            <a:off x="10331806" y="5600700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09" name="Shape 84"/>
          <p:cNvSpPr/>
          <p:nvPr/>
        </p:nvSpPr>
        <p:spPr>
          <a:xfrm>
            <a:off x="0" y="5994806"/>
            <a:ext cx="12191695" cy="8668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Shape 85"/>
          <p:cNvSpPr/>
          <p:nvPr/>
        </p:nvSpPr>
        <p:spPr>
          <a:xfrm>
            <a:off x="0" y="5994806"/>
            <a:ext cx="121916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1" name="Shape 86"/>
          <p:cNvSpPr/>
          <p:nvPr/>
        </p:nvSpPr>
        <p:spPr>
          <a:xfrm>
            <a:off x="1218895" y="6233465"/>
            <a:ext cx="1904695" cy="400507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112" name="Image 23" descr="preencoded.png">    </p:cNvPr>
          <p:cNvPicPr>
            <a:picLocks noChangeAspect="1"/>
          </p:cNvPicPr>
          <p:nvPr/>
        </p:nvPicPr>
        <p:blipFill>
          <a:blip r:embed="rId24"/>
          <a:srcRect l="-2571" r="-2571" t="0" b="0"/>
          <a:stretch/>
        </p:blipFill>
        <p:spPr>
          <a:xfrm>
            <a:off x="1921154" y="6389827"/>
            <a:ext cx="105156" cy="114300"/>
          </a:xfrm>
          <a:prstGeom prst="rect">
            <a:avLst/>
          </a:prstGeom>
        </p:spPr>
      </p:pic>
      <p:sp>
        <p:nvSpPr>
          <p:cNvPr id="113" name="Text 87"/>
          <p:cNvSpPr txBox="1"/>
          <p:nvPr/>
        </p:nvSpPr>
        <p:spPr>
          <a:xfrm>
            <a:off x="2102206" y="6328562"/>
            <a:ext cx="4270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</a:t>
            </a:r>
            <a:endParaRPr lang="en-US" sz="1000" dirty="0"/>
          </a:p>
        </p:txBody>
      </p:sp>
      <p:sp>
        <p:nvSpPr>
          <p:cNvPr id="114" name="Shape 88"/>
          <p:cNvSpPr/>
          <p:nvPr/>
        </p:nvSpPr>
        <p:spPr>
          <a:xfrm>
            <a:off x="3834994" y="6233465"/>
            <a:ext cx="1904695" cy="400507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115" name="Image 24" descr="preencoded.png">    </p:cNvPr>
          <p:cNvPicPr>
            <a:picLocks noChangeAspect="1"/>
          </p:cNvPicPr>
          <p:nvPr/>
        </p:nvPicPr>
        <p:blipFill>
          <a:blip r:embed="rId25"/>
          <a:srcRect l="-2571" r="-2571" t="0" b="0"/>
          <a:stretch/>
        </p:blipFill>
        <p:spPr>
          <a:xfrm>
            <a:off x="4444898" y="6389827"/>
            <a:ext cx="105156" cy="114300"/>
          </a:xfrm>
          <a:prstGeom prst="rect">
            <a:avLst/>
          </a:prstGeom>
        </p:spPr>
      </p:pic>
      <p:sp>
        <p:nvSpPr>
          <p:cNvPr id="116" name="Text 89"/>
          <p:cNvSpPr txBox="1"/>
          <p:nvPr/>
        </p:nvSpPr>
        <p:spPr>
          <a:xfrm>
            <a:off x="4625950" y="6328562"/>
            <a:ext cx="608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희소벡터</a:t>
            </a:r>
            <a:endParaRPr lang="en-US" sz="1000" dirty="0"/>
          </a:p>
        </p:txBody>
      </p:sp>
      <p:sp>
        <p:nvSpPr>
          <p:cNvPr id="117" name="Shape 90"/>
          <p:cNvSpPr/>
          <p:nvPr/>
        </p:nvSpPr>
        <p:spPr>
          <a:xfrm>
            <a:off x="6451092" y="6233465"/>
            <a:ext cx="1904695" cy="400507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118" name="Image 25" descr="preencoded.png">    </p:cNvPr>
          <p:cNvPicPr>
            <a:picLocks noChangeAspect="1"/>
          </p:cNvPicPr>
          <p:nvPr/>
        </p:nvPicPr>
        <p:blipFill>
          <a:blip r:embed="rId26"/>
          <a:srcRect l="-2571" r="-2571" t="0" b="0"/>
          <a:stretch/>
        </p:blipFill>
        <p:spPr>
          <a:xfrm>
            <a:off x="7060997" y="6389827"/>
            <a:ext cx="105156" cy="114300"/>
          </a:xfrm>
          <a:prstGeom prst="rect">
            <a:avLst/>
          </a:prstGeom>
        </p:spPr>
      </p:pic>
      <p:sp>
        <p:nvSpPr>
          <p:cNvPr id="119" name="Text 91"/>
          <p:cNvSpPr txBox="1"/>
          <p:nvPr/>
        </p:nvSpPr>
        <p:spPr>
          <a:xfrm>
            <a:off x="7242048" y="6328562"/>
            <a:ext cx="608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밀집벡터</a:t>
            </a:r>
            <a:endParaRPr lang="en-US" sz="1000" dirty="0"/>
          </a:p>
        </p:txBody>
      </p:sp>
      <p:sp>
        <p:nvSpPr>
          <p:cNvPr id="120" name="Shape 92"/>
          <p:cNvSpPr/>
          <p:nvPr/>
        </p:nvSpPr>
        <p:spPr>
          <a:xfrm>
            <a:off x="9067190" y="6233465"/>
            <a:ext cx="1904695" cy="400507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21" name="Text 93"/>
          <p:cNvSpPr txBox="1"/>
          <p:nvPr/>
        </p:nvSpPr>
        <p:spPr>
          <a:xfrm>
            <a:off x="9547250" y="6328562"/>
            <a:ext cx="265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122" name="Text 94"/>
          <p:cNvSpPr txBox="1"/>
          <p:nvPr/>
        </p:nvSpPr>
        <p:spPr>
          <a:xfrm>
            <a:off x="9784994" y="6328562"/>
            <a:ext cx="817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및 활용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2025-12-16T15:48:29Z</dcterms:created>
  <dcterms:modified xsi:type="dcterms:W3CDTF">2025-12-16T15:48:29Z</dcterms:modified>
</cp:coreProperties>
</file>